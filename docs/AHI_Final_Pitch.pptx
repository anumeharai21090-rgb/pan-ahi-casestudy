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765"/>
  </p:normalViewPr>
  <p:slideViewPr>
    <p:cSldViewPr snapToGrid="0">
      <p:cViewPr varScale="1">
        <p:scale>
          <a:sx n="133" d="100"/>
          <a:sy n="133" d="100"/>
        </p:scale>
        <p:origin x="11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C11CAF-4ED4-473B-B820-606F18971CC6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Title slide. Brief pause.</a:t>
            </a:r>
          </a:p>
        </p:txBody>
      </p:sp>
      <p:sp>
        <p:nvSpPr>
          <p:cNvPr id="6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691199-F6D4-4504-9E5F-4A2E523CC4A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S2 clean rewrite.</a:t>
            </a:r>
          </a:p>
        </p:txBody>
      </p:sp>
      <p:sp>
        <p:nvSpPr>
          <p:cNvPr id="6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92714C-4FC1-42AC-BE06-E9606DAC0D7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S3 clean rewrite.</a:t>
            </a:r>
          </a:p>
        </p:txBody>
      </p:sp>
      <p:sp>
        <p:nvSpPr>
          <p:cNvPr id="6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6DBDF6-1ED5-42BB-A99F-BC257C1C0CA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Deep dive on the formula. Walk each dimension. Weight rationale pre-empts the 'arbitrary weights' objection.</a:t>
            </a:r>
          </a:p>
        </p:txBody>
      </p:sp>
      <p:sp>
        <p:nvSpPr>
          <p:cNvPr id="6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4BC82C-C882-4530-A179-4C336B8960D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S5 clean rewrite.</a:t>
            </a:r>
          </a:p>
        </p:txBody>
      </p:sp>
      <p:sp>
        <p:nvSpPr>
          <p:cNvPr id="6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B5285E-38EA-4134-8A44-8C949DBE13E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541504-64A0-4488-B260-31389B54C19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50287E-83B6-4BD2-93D9-F12E4B97B8C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AC146F-AD9B-4AC0-A026-54164337BE5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Dark bg, 2x2 card grid. Visually distinct from E (white, numbered accordion rows).</a:t>
            </a:r>
          </a:p>
        </p:txBody>
      </p:sp>
      <p:sp>
        <p:nvSpPr>
          <p:cNvPr id="6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37649A-75F2-4105-8EBD-1AEA11731C7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Full architecture. Arrows are pptx LINE shapes + ▶ text — guaranteed visible.</a:t>
            </a:r>
          </a:p>
        </p:txBody>
      </p:sp>
      <p:sp>
        <p:nvSpPr>
          <p:cNvPr id="65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325B0A-BF4C-45A5-974E-56DC6023899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3E5410-39B9-48FA-B88C-BA7EEED98F8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White bg, numbered accordion rows with alternating tints. Visually distinct from D (dark 2x2 grid).</a:t>
            </a:r>
          </a:p>
        </p:txBody>
      </p:sp>
      <p:sp>
        <p:nvSpPr>
          <p:cNvPr id="65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61D655-8674-4E0A-9D0D-70F5209765C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8D4718-09E0-4B99-B86D-D453AC6D233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EFF742-57AE-4B90-9A05-CBDE08E9120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3"/>
          <a:stretch/>
        </p:blipFill>
        <p:spPr>
          <a:xfrm>
            <a:off x="3436220" y="578566"/>
            <a:ext cx="2194200" cy="1234080"/>
          </a:xfrm>
          <a:prstGeom prst="rect">
            <a:avLst/>
          </a:prstGeom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875900" y="1730926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FFFFFF"/>
                </a:solidFill>
                <a:latin typeface="Arial"/>
                <a:ea typeface="Arial"/>
              </a:rPr>
              <a:t>Account Health Index</a:t>
            </a:r>
            <a:endParaRPr lang="en-US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875900" y="2608606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E8F0FB"/>
                </a:solidFill>
                <a:latin typeface="Arial"/>
                <a:ea typeface="Arial"/>
              </a:rPr>
              <a:t>A North Star Metric for GCS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3161900" y="3084166"/>
            <a:ext cx="2743200" cy="36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75900" y="3248686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8F0FB"/>
                </a:solidFill>
                <a:latin typeface="Arial"/>
                <a:ea typeface="Arial"/>
              </a:rPr>
              <a:t>Anumeha Rai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875900" y="3578086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94A3B8"/>
                </a:solidFill>
                <a:latin typeface="Arial"/>
                <a:ea typeface="Arial"/>
              </a:rPr>
              <a:t>Lead Product Manager, Data &amp; AI Platform  ·  PayPal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75900" y="3852406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94A3B8"/>
                </a:solidFill>
                <a:latin typeface="Arial"/>
                <a:ea typeface="Arial"/>
              </a:rPr>
              <a:t>June 29, 2026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75900" y="4658626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 err="1">
                <a:solidFill>
                  <a:schemeClr val="bg1"/>
                </a:solidFill>
                <a:latin typeface="Arial"/>
                <a:ea typeface="Arial"/>
              </a:rPr>
              <a:t>github.com</a:t>
            </a:r>
            <a:r>
              <a:rPr lang="en-US" sz="1000" b="0" strike="noStrike" spc="-1" dirty="0">
                <a:solidFill>
                  <a:schemeClr val="bg1"/>
                </a:solidFill>
                <a:latin typeface="Arial"/>
                <a:ea typeface="Arial"/>
              </a:rPr>
              <a:t>/anumeharai21090-rgb/pan-ahi-</a:t>
            </a:r>
            <a:r>
              <a:rPr lang="en-US" sz="1000" b="0" strike="noStrike" spc="-1" dirty="0" err="1">
                <a:solidFill>
                  <a:schemeClr val="bg1"/>
                </a:solidFill>
                <a:latin typeface="Arial"/>
                <a:ea typeface="Arial"/>
              </a:rPr>
              <a:t>casestudy</a:t>
            </a:r>
            <a:endParaRPr lang="en-US" sz="10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365760" y="199024"/>
            <a:ext cx="8412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1B3F6B"/>
                </a:solidFill>
                <a:latin typeface="Arial"/>
                <a:ea typeface="Arial"/>
              </a:rPr>
              <a:t>The challenge facing GCS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625641" y="805086"/>
            <a:ext cx="7862115" cy="6580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625641" y="859806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1E293B"/>
                </a:solidFill>
                <a:latin typeface="Arial"/>
                <a:ea typeface="Arial"/>
              </a:rPr>
              <a:t>GCS (Global Customer Services) is moving from Total Contract Value (TCV) to Annual Recurring Revenue (ARR) + consumption — and lacks a metric that measures what actually matters: whether customers deploy, consume, and renew.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641167" y="1763852"/>
            <a:ext cx="3747315" cy="1188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769327" y="1873652"/>
            <a:ext cx="402120" cy="4021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769327" y="1873652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×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1262887" y="1873652"/>
            <a:ext cx="3419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D97706"/>
                </a:solidFill>
                <a:latin typeface="Arial"/>
                <a:ea typeface="Arial"/>
              </a:rPr>
              <a:t>TCV rewards signing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1262887" y="2111252"/>
            <a:ext cx="3419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64748B"/>
                </a:solidFill>
                <a:latin typeface="Arial"/>
                <a:ea typeface="Arial"/>
              </a:rPr>
              <a:t>Not deploying, not consuming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768967" y="2367212"/>
            <a:ext cx="3419640" cy="0"/>
          </a:xfrm>
          <a:prstGeom prst="line">
            <a:avLst/>
          </a:prstGeom>
          <a:ln w="63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769327" y="2422292"/>
            <a:ext cx="3619155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 dirty="0">
                <a:solidFill>
                  <a:srgbClr val="1E293B"/>
                </a:solidFill>
                <a:latin typeface="Arial"/>
                <a:ea typeface="Arial"/>
              </a:rPr>
              <a:t>$5M shelfware = $5M consuming. TCV cannot tell the difference.</a:t>
            </a:r>
            <a:endParaRPr lang="en-US" sz="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4731813" y="1763852"/>
            <a:ext cx="3747315" cy="1188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4859973" y="1873652"/>
            <a:ext cx="402120" cy="402120"/>
          </a:xfrm>
          <a:prstGeom prst="roundRect">
            <a:avLst>
              <a:gd name="adj" fmla="val 18182"/>
            </a:avLst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4859973" y="1873652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!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5353533" y="1873652"/>
            <a:ext cx="3419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64748B"/>
                </a:solidFill>
                <a:latin typeface="Arial"/>
                <a:ea typeface="Arial"/>
              </a:rPr>
              <a:t>No unified signal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5353533" y="2111252"/>
            <a:ext cx="3419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64748B"/>
                </a:solidFill>
                <a:latin typeface="Arial"/>
                <a:ea typeface="Arial"/>
              </a:rPr>
              <a:t>Credits, tickets, NPS all separate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4859613" y="2367212"/>
            <a:ext cx="3438360" cy="0"/>
          </a:xfrm>
          <a:prstGeom prst="line">
            <a:avLst/>
          </a:prstGeom>
          <a:ln w="635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4859973" y="2422292"/>
            <a:ext cx="3619155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 dirty="0">
                <a:solidFill>
                  <a:srgbClr val="1E293B"/>
                </a:solidFill>
                <a:latin typeface="Arial"/>
                <a:ea typeface="Arial"/>
              </a:rPr>
              <a:t>Customer Success Managers (CSMs) fly blind. No single number to manage a book of accounts.</a:t>
            </a:r>
            <a:endParaRPr lang="en-US" sz="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641167" y="3263738"/>
            <a:ext cx="3747315" cy="1188360"/>
          </a:xfrm>
          <a:prstGeom prst="roundRect">
            <a:avLst>
              <a:gd name="adj" fmla="val 7692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769327" y="3373538"/>
            <a:ext cx="402120" cy="4021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769327" y="3373538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$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1262887" y="3373538"/>
            <a:ext cx="3419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6A34A"/>
                </a:solidFill>
                <a:latin typeface="Arial"/>
                <a:ea typeface="Arial"/>
              </a:rPr>
              <a:t>Wrong comp behavior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1262887" y="3611498"/>
            <a:ext cx="3419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64748B"/>
                </a:solidFill>
                <a:latin typeface="Arial"/>
                <a:ea typeface="Arial"/>
              </a:rPr>
              <a:t>Reps optimise for booking size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768967" y="3867098"/>
            <a:ext cx="3419640" cy="0"/>
          </a:xfrm>
          <a:prstGeom prst="line">
            <a:avLst/>
          </a:prstGeom>
          <a:ln w="63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769327" y="3922178"/>
            <a:ext cx="3619155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 dirty="0">
                <a:solidFill>
                  <a:srgbClr val="1E293B"/>
                </a:solidFill>
                <a:latin typeface="Arial"/>
                <a:ea typeface="Arial"/>
              </a:rPr>
              <a:t>Consumption, deployment, renewal — zero weight in comp.</a:t>
            </a:r>
            <a:endParaRPr lang="en-US" sz="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4"/>
          <p:cNvSpPr/>
          <p:nvPr/>
        </p:nvSpPr>
        <p:spPr>
          <a:xfrm>
            <a:off x="4731813" y="3263738"/>
            <a:ext cx="3747315" cy="1188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4859973" y="3373538"/>
            <a:ext cx="402120" cy="4021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26"/>
          <p:cNvSpPr/>
          <p:nvPr/>
        </p:nvSpPr>
        <p:spPr>
          <a:xfrm>
            <a:off x="4859973" y="3373538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?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5353533" y="3373538"/>
            <a:ext cx="3419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563EB"/>
                </a:solidFill>
                <a:latin typeface="Arial"/>
                <a:ea typeface="Arial"/>
              </a:rPr>
              <a:t>Anomalies undetected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5353533" y="3611498"/>
            <a:ext cx="3419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64748B"/>
                </a:solidFill>
                <a:latin typeface="Arial"/>
                <a:ea typeface="Arial"/>
              </a:rPr>
              <a:t>Shelfware visible only at renewal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4859613" y="3867098"/>
            <a:ext cx="3419640" cy="0"/>
          </a:xfrm>
          <a:prstGeom prst="line">
            <a:avLst/>
          </a:prstGeom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0"/>
          <p:cNvSpPr/>
          <p:nvPr/>
        </p:nvSpPr>
        <p:spPr>
          <a:xfrm>
            <a:off x="4859973" y="3922178"/>
            <a:ext cx="3619155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 dirty="0">
                <a:solidFill>
                  <a:srgbClr val="1E293B"/>
                </a:solidFill>
                <a:latin typeface="Arial"/>
                <a:ea typeface="Arial"/>
              </a:rPr>
              <a:t>Spike-and-drop, overages — surface only at renewal. Too late.</a:t>
            </a:r>
            <a:endParaRPr lang="en-US" sz="95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365760" y="233528"/>
            <a:ext cx="8412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1B3F6B"/>
                </a:solidFill>
                <a:latin typeface="Arial"/>
                <a:ea typeface="Arial"/>
              </a:rPr>
              <a:t>My recommendation: Account Health Index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585720" y="944214"/>
            <a:ext cx="7817135" cy="1170000"/>
          </a:xfrm>
          <a:prstGeom prst="roundRect">
            <a:avLst>
              <a:gd name="adj" fmla="val 9375"/>
            </a:avLst>
          </a:prstGeom>
          <a:solidFill>
            <a:srgbClr val="EFF6FF"/>
          </a:solidFill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665034" y="1090374"/>
            <a:ext cx="402120" cy="402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65034" y="1090374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FFFFF"/>
                </a:solidFill>
                <a:latin typeface="Arial"/>
                <a:ea typeface="Arial"/>
              </a:rPr>
              <a:t>♥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1060560" y="1017294"/>
            <a:ext cx="74977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B3F6B"/>
                </a:solidFill>
                <a:latin typeface="Arial"/>
                <a:ea typeface="Arial"/>
              </a:rPr>
              <a:t>Account Health Index (AHI)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060560" y="1327974"/>
            <a:ext cx="7497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1E293B"/>
                </a:solidFill>
                <a:latin typeface="Arial"/>
                <a:ea typeface="Arial"/>
              </a:rPr>
              <a:t>A single score from 0 to 100, calculated monthly per account, that answers the five questions TCV cannot: whether the customer deployed, consumed, is technically healthy, is growing, and is trending in the right direction.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600329" y="2414897"/>
            <a:ext cx="2178054" cy="85932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12700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637049" y="2543057"/>
            <a:ext cx="328680" cy="328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637049" y="2543057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○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1057889" y="2543057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Monthly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841121" y="2835737"/>
            <a:ext cx="1911704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64748B"/>
                </a:solidFill>
                <a:latin typeface="Arial"/>
                <a:ea typeface="Arial"/>
              </a:rPr>
              <a:t>Updated every month — not just at signing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3347450" y="2414897"/>
            <a:ext cx="2178054" cy="85932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12700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2"/>
          <p:cNvSpPr/>
          <p:nvPr/>
        </p:nvSpPr>
        <p:spPr>
          <a:xfrm>
            <a:off x="3384170" y="2543057"/>
            <a:ext cx="328680" cy="328680"/>
          </a:xfrm>
          <a:prstGeom prst="ellipse">
            <a:avLst/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3384170" y="2543057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≡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3785760" y="2543057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Per account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3573333" y="2835737"/>
            <a:ext cx="1797564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64748B"/>
                </a:solidFill>
                <a:latin typeface="Arial"/>
                <a:ea typeface="Arial"/>
              </a:rPr>
              <a:t>Individual score per account, not a portfolio average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6"/>
          <p:cNvSpPr/>
          <p:nvPr/>
        </p:nvSpPr>
        <p:spPr>
          <a:xfrm>
            <a:off x="6210077" y="2414897"/>
            <a:ext cx="2178054" cy="85932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12700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6246797" y="2543057"/>
            <a:ext cx="328680" cy="3286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6246797" y="2543057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✓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6667277" y="2543057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0 to 100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6464183" y="2835737"/>
            <a:ext cx="2178054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64748B"/>
                </a:solidFill>
                <a:latin typeface="Arial"/>
                <a:ea typeface="Arial"/>
              </a:rPr>
              <a:t>Healthy ≥ 80  ·  At Risk &lt; 65  ·  Churning &lt; 35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1"/>
          <p:cNvSpPr/>
          <p:nvPr/>
        </p:nvSpPr>
        <p:spPr>
          <a:xfrm>
            <a:off x="585720" y="3575263"/>
            <a:ext cx="7817135" cy="694440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636157" y="3703063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16A34A"/>
                </a:solidFill>
                <a:latin typeface="Arial"/>
                <a:ea typeface="Arial"/>
              </a:rPr>
              <a:t>✓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877680" y="3629983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6A34A"/>
                </a:solidFill>
                <a:latin typeface="Arial"/>
                <a:ea typeface="Arial"/>
              </a:rPr>
              <a:t>What does good look like?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877680" y="3885943"/>
            <a:ext cx="7772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1E293B"/>
                </a:solidFill>
                <a:latin typeface="Arial"/>
                <a:ea typeface="Arial"/>
              </a:rPr>
              <a:t>AHI ≥ 80 = Healthy. Grounded in PAN's own earnings data: platform customers with this profile retain at 120% net revenue retention (NRR) (Q4 FY2025 + Q2 FY2026).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365760" y="4398223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64748B"/>
                </a:solidFill>
                <a:latin typeface="Arial"/>
                <a:ea typeface="Arial"/>
              </a:rPr>
              <a:t>The five dimensions and how they are scored are on the next slide.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228600" y="210240"/>
            <a:ext cx="80463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1B3F6B"/>
                </a:solidFill>
                <a:latin typeface="Arial"/>
                <a:ea typeface="Arial"/>
              </a:rPr>
              <a:t>How AHI is calculated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1005840" y="842554"/>
            <a:ext cx="7131960" cy="438480"/>
          </a:xfrm>
          <a:prstGeom prst="roundRect">
            <a:avLst>
              <a:gd name="adj" fmla="val 16667"/>
            </a:avLst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365760" y="842554"/>
            <a:ext cx="7131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AHI = (Consumption × 0.25) + (Deployment × 0.25) + (Stability × 0.20) + (Expansion × 0.15) + (Trend × 0.15)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347400" y="1493601"/>
            <a:ext cx="1590840" cy="2037960"/>
          </a:xfrm>
          <a:prstGeom prst="roundRect">
            <a:avLst>
              <a:gd name="adj" fmla="val 5747"/>
            </a:avLst>
          </a:prstGeom>
          <a:solidFill>
            <a:srgbClr val="F8FAFC"/>
          </a:solidFill>
          <a:ln w="19050">
            <a:solidFill>
              <a:srgbClr val="2563EB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347400" y="1493601"/>
            <a:ext cx="1590840" cy="365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347400" y="1493601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25%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1353240" y="1493601"/>
            <a:ext cx="585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≡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1536120" y="1493601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≡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420480" y="1914441"/>
            <a:ext cx="144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563EB"/>
                </a:solidFill>
                <a:latin typeface="Arial"/>
                <a:ea typeface="Arial"/>
              </a:rPr>
              <a:t>Consumption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420480" y="2133681"/>
            <a:ext cx="1444680" cy="360"/>
          </a:xfrm>
          <a:prstGeom prst="line">
            <a:avLst/>
          </a:prstGeom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420480" y="2188761"/>
            <a:ext cx="1444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strike="noStrike" spc="-1">
                <a:solidFill>
                  <a:srgbClr val="2563EB"/>
                </a:solidFill>
                <a:latin typeface="Arial"/>
                <a:ea typeface="Arial"/>
              </a:rPr>
              <a:t>What's purchased vs. consumed?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420480" y="2700681"/>
            <a:ext cx="1444320" cy="10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Credits ÷ committed. Penalty 0.85× above 120%.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2"/>
          <p:cNvSpPr/>
          <p:nvPr/>
        </p:nvSpPr>
        <p:spPr>
          <a:xfrm>
            <a:off x="2048400" y="1493601"/>
            <a:ext cx="1590840" cy="2037960"/>
          </a:xfrm>
          <a:prstGeom prst="roundRect">
            <a:avLst>
              <a:gd name="adj" fmla="val 5747"/>
            </a:avLst>
          </a:prstGeom>
          <a:solidFill>
            <a:srgbClr val="F8FAFC"/>
          </a:solidFill>
          <a:ln w="19050">
            <a:solidFill>
              <a:srgbClr val="16A34A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2048400" y="1493601"/>
            <a:ext cx="1590840" cy="3654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2048400" y="1493601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25%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3054240" y="1493601"/>
            <a:ext cx="585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↑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3237120" y="1493601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↑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2121480" y="1914441"/>
            <a:ext cx="144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6A34A"/>
                </a:solidFill>
                <a:latin typeface="Arial"/>
                <a:ea typeface="Arial"/>
              </a:rPr>
              <a:t>Deployment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2121120" y="2133681"/>
            <a:ext cx="1445040" cy="360"/>
          </a:xfrm>
          <a:prstGeom prst="line">
            <a:avLst/>
          </a:prstGeom>
          <a:ln w="63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2121480" y="2188761"/>
            <a:ext cx="1444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strike="noStrike" spc="-1">
                <a:solidFill>
                  <a:srgbClr val="16A34A"/>
                </a:solidFill>
                <a:latin typeface="Arial"/>
                <a:ea typeface="Arial"/>
              </a:rPr>
              <a:t>Is the product deployed?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2121480" y="2700681"/>
            <a:ext cx="1444320" cy="10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Active days ÷ month days. Zero = score of zero.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3749040" y="1493601"/>
            <a:ext cx="1590840" cy="2037960"/>
          </a:xfrm>
          <a:prstGeom prst="roundRect">
            <a:avLst>
              <a:gd name="adj" fmla="val 5747"/>
            </a:avLst>
          </a:prstGeom>
          <a:solidFill>
            <a:srgbClr val="F8FAFC"/>
          </a:solidFill>
          <a:ln w="19050">
            <a:solidFill>
              <a:srgbClr val="1B3F6B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22"/>
          <p:cNvSpPr/>
          <p:nvPr/>
        </p:nvSpPr>
        <p:spPr>
          <a:xfrm>
            <a:off x="3749040" y="1493601"/>
            <a:ext cx="1590840" cy="365400"/>
          </a:xfrm>
          <a:prstGeom prst="roundRect">
            <a:avLst>
              <a:gd name="adj" fmla="val 25000"/>
            </a:avLst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3749040" y="1493601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20%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4"/>
          <p:cNvSpPr/>
          <p:nvPr/>
        </p:nvSpPr>
        <p:spPr>
          <a:xfrm>
            <a:off x="4754880" y="1493601"/>
            <a:ext cx="585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○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5"/>
          <p:cNvSpPr/>
          <p:nvPr/>
        </p:nvSpPr>
        <p:spPr>
          <a:xfrm>
            <a:off x="4937760" y="1493601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○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6"/>
          <p:cNvSpPr/>
          <p:nvPr/>
        </p:nvSpPr>
        <p:spPr>
          <a:xfrm>
            <a:off x="3822120" y="1914441"/>
            <a:ext cx="144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Stability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7"/>
          <p:cNvSpPr/>
          <p:nvPr/>
        </p:nvSpPr>
        <p:spPr>
          <a:xfrm>
            <a:off x="3822120" y="2133681"/>
            <a:ext cx="1444680" cy="360"/>
          </a:xfrm>
          <a:prstGeom prst="line">
            <a:avLst/>
          </a:prstGeom>
          <a:ln w="635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8"/>
          <p:cNvSpPr/>
          <p:nvPr/>
        </p:nvSpPr>
        <p:spPr>
          <a:xfrm>
            <a:off x="3822120" y="2188761"/>
            <a:ext cx="1444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strike="noStrike" spc="-1">
                <a:solidFill>
                  <a:srgbClr val="1B3F6B"/>
                </a:solidFill>
                <a:latin typeface="Arial"/>
                <a:ea typeface="Arial"/>
              </a:rPr>
              <a:t>What is the technical health?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9"/>
          <p:cNvSpPr/>
          <p:nvPr/>
        </p:nvSpPr>
        <p:spPr>
          <a:xfrm>
            <a:off x="3822120" y="2700681"/>
            <a:ext cx="1444320" cy="10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Health color avg. Acts as a ceiling on AHI.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30"/>
          <p:cNvSpPr/>
          <p:nvPr/>
        </p:nvSpPr>
        <p:spPr>
          <a:xfrm>
            <a:off x="5449680" y="1493601"/>
            <a:ext cx="1590840" cy="2037960"/>
          </a:xfrm>
          <a:prstGeom prst="roundRect">
            <a:avLst>
              <a:gd name="adj" fmla="val 5747"/>
            </a:avLst>
          </a:prstGeom>
          <a:solidFill>
            <a:srgbClr val="F8FAFC"/>
          </a:solidFill>
          <a:ln w="19050">
            <a:solidFill>
              <a:srgbClr val="D97706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31"/>
          <p:cNvSpPr/>
          <p:nvPr/>
        </p:nvSpPr>
        <p:spPr>
          <a:xfrm>
            <a:off x="5449680" y="1493601"/>
            <a:ext cx="1590840" cy="36540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32"/>
          <p:cNvSpPr/>
          <p:nvPr/>
        </p:nvSpPr>
        <p:spPr>
          <a:xfrm>
            <a:off x="5449680" y="1493601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15%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33"/>
          <p:cNvSpPr/>
          <p:nvPr/>
        </p:nvSpPr>
        <p:spPr>
          <a:xfrm>
            <a:off x="6455520" y="1493601"/>
            <a:ext cx="585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34"/>
          <p:cNvSpPr/>
          <p:nvPr/>
        </p:nvSpPr>
        <p:spPr>
          <a:xfrm>
            <a:off x="6638400" y="1493601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35"/>
          <p:cNvSpPr/>
          <p:nvPr/>
        </p:nvSpPr>
        <p:spPr>
          <a:xfrm>
            <a:off x="5523120" y="1914441"/>
            <a:ext cx="144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D97706"/>
                </a:solidFill>
                <a:latin typeface="Arial"/>
                <a:ea typeface="Arial"/>
              </a:rPr>
              <a:t>Expansion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6"/>
          <p:cNvSpPr/>
          <p:nvPr/>
        </p:nvSpPr>
        <p:spPr>
          <a:xfrm>
            <a:off x="5522760" y="2133681"/>
            <a:ext cx="1444680" cy="360"/>
          </a:xfrm>
          <a:prstGeom prst="line">
            <a:avLst/>
          </a:prstGeom>
          <a:ln w="63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7"/>
          <p:cNvSpPr/>
          <p:nvPr/>
        </p:nvSpPr>
        <p:spPr>
          <a:xfrm>
            <a:off x="5523120" y="2188761"/>
            <a:ext cx="1444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strike="noStrike" spc="-1">
                <a:solidFill>
                  <a:srgbClr val="D97706"/>
                </a:solidFill>
                <a:latin typeface="Arial"/>
                <a:ea typeface="Arial"/>
              </a:rPr>
              <a:t>Is the relationship growing?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8"/>
          <p:cNvSpPr/>
          <p:nvPr/>
        </p:nvSpPr>
        <p:spPr>
          <a:xfrm>
            <a:off x="5523120" y="2700681"/>
            <a:ext cx="1444320" cy="10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Current ARR ÷ original ARR at signing.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39"/>
          <p:cNvSpPr/>
          <p:nvPr/>
        </p:nvSpPr>
        <p:spPr>
          <a:xfrm>
            <a:off x="7150680" y="1493601"/>
            <a:ext cx="1590840" cy="2037960"/>
          </a:xfrm>
          <a:prstGeom prst="roundRect">
            <a:avLst>
              <a:gd name="adj" fmla="val 5747"/>
            </a:avLst>
          </a:prstGeom>
          <a:solidFill>
            <a:srgbClr val="F8FAFC"/>
          </a:solidFill>
          <a:ln w="19050">
            <a:solidFill>
              <a:srgbClr val="2563EB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40"/>
          <p:cNvSpPr/>
          <p:nvPr/>
        </p:nvSpPr>
        <p:spPr>
          <a:xfrm>
            <a:off x="7150680" y="1493601"/>
            <a:ext cx="1590840" cy="365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41"/>
          <p:cNvSpPr/>
          <p:nvPr/>
        </p:nvSpPr>
        <p:spPr>
          <a:xfrm>
            <a:off x="7150680" y="1493601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15%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42"/>
          <p:cNvSpPr/>
          <p:nvPr/>
        </p:nvSpPr>
        <p:spPr>
          <a:xfrm>
            <a:off x="8156520" y="1493601"/>
            <a:ext cx="585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▲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43"/>
          <p:cNvSpPr/>
          <p:nvPr/>
        </p:nvSpPr>
        <p:spPr>
          <a:xfrm>
            <a:off x="8339400" y="1493601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▲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44"/>
          <p:cNvSpPr/>
          <p:nvPr/>
        </p:nvSpPr>
        <p:spPr>
          <a:xfrm>
            <a:off x="7223760" y="1914441"/>
            <a:ext cx="144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563EB"/>
                </a:solidFill>
                <a:latin typeface="Arial"/>
                <a:ea typeface="Arial"/>
              </a:rPr>
              <a:t>Trend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45"/>
          <p:cNvSpPr/>
          <p:nvPr/>
        </p:nvSpPr>
        <p:spPr>
          <a:xfrm>
            <a:off x="7223760" y="2133681"/>
            <a:ext cx="1444680" cy="360"/>
          </a:xfrm>
          <a:prstGeom prst="line">
            <a:avLst/>
          </a:prstGeom>
          <a:ln w="63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6"/>
          <p:cNvSpPr/>
          <p:nvPr/>
        </p:nvSpPr>
        <p:spPr>
          <a:xfrm>
            <a:off x="7223760" y="2188761"/>
            <a:ext cx="1444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strike="noStrike" spc="-1">
                <a:solidFill>
                  <a:srgbClr val="2563EB"/>
                </a:solidFill>
                <a:latin typeface="Arial"/>
                <a:ea typeface="Arial"/>
              </a:rPr>
              <a:t>Is usage going up or declining?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7"/>
          <p:cNvSpPr/>
          <p:nvPr/>
        </p:nvSpPr>
        <p:spPr>
          <a:xfrm>
            <a:off x="7223760" y="2700681"/>
            <a:ext cx="1444320" cy="10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Regression slope + Isolation Forest flag.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48"/>
          <p:cNvSpPr/>
          <p:nvPr/>
        </p:nvSpPr>
        <p:spPr>
          <a:xfrm>
            <a:off x="330148" y="3657597"/>
            <a:ext cx="1590840" cy="237240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49"/>
          <p:cNvSpPr/>
          <p:nvPr/>
        </p:nvSpPr>
        <p:spPr>
          <a:xfrm>
            <a:off x="330148" y="3657597"/>
            <a:ext cx="1590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Arial"/>
                <a:ea typeface="Arial"/>
              </a:rPr>
              <a:t>Healthy 80–100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50"/>
          <p:cNvSpPr/>
          <p:nvPr/>
        </p:nvSpPr>
        <p:spPr>
          <a:xfrm>
            <a:off x="2031148" y="3657597"/>
            <a:ext cx="1590840" cy="237240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51"/>
          <p:cNvSpPr/>
          <p:nvPr/>
        </p:nvSpPr>
        <p:spPr>
          <a:xfrm>
            <a:off x="2047680" y="3657597"/>
            <a:ext cx="1573948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Arial"/>
                <a:ea typeface="Arial"/>
              </a:rPr>
              <a:t>Monitor 65–79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2"/>
          <p:cNvSpPr/>
          <p:nvPr/>
        </p:nvSpPr>
        <p:spPr>
          <a:xfrm>
            <a:off x="3731428" y="3657597"/>
            <a:ext cx="1590840" cy="237240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53"/>
          <p:cNvSpPr/>
          <p:nvPr/>
        </p:nvSpPr>
        <p:spPr>
          <a:xfrm>
            <a:off x="3731788" y="3657597"/>
            <a:ext cx="1590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Arial"/>
                <a:ea typeface="Arial"/>
              </a:rPr>
              <a:t>At Risk 50–64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54"/>
          <p:cNvSpPr/>
          <p:nvPr/>
        </p:nvSpPr>
        <p:spPr>
          <a:xfrm>
            <a:off x="5432428" y="3657597"/>
            <a:ext cx="1590840" cy="237240"/>
          </a:xfrm>
          <a:prstGeom prst="roundRect">
            <a:avLst>
              <a:gd name="adj" fmla="val 19231"/>
            </a:avLst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55"/>
          <p:cNvSpPr/>
          <p:nvPr/>
        </p:nvSpPr>
        <p:spPr>
          <a:xfrm>
            <a:off x="5432428" y="3657597"/>
            <a:ext cx="1590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Arial"/>
                <a:ea typeface="Arial"/>
              </a:rPr>
              <a:t>Critical 35–49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56"/>
          <p:cNvSpPr/>
          <p:nvPr/>
        </p:nvSpPr>
        <p:spPr>
          <a:xfrm>
            <a:off x="7133428" y="3657597"/>
            <a:ext cx="1590840" cy="237240"/>
          </a:xfrm>
          <a:prstGeom prst="roundRect">
            <a:avLst>
              <a:gd name="adj" fmla="val 19231"/>
            </a:avLst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57"/>
          <p:cNvSpPr/>
          <p:nvPr/>
        </p:nvSpPr>
        <p:spPr>
          <a:xfrm>
            <a:off x="7133428" y="3657597"/>
            <a:ext cx="1590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Arial"/>
                <a:ea typeface="Arial"/>
              </a:rPr>
              <a:t>Churning &lt;35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58"/>
          <p:cNvSpPr/>
          <p:nvPr/>
        </p:nvSpPr>
        <p:spPr>
          <a:xfrm>
            <a:off x="365760" y="4012518"/>
            <a:ext cx="7131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64748B"/>
                </a:solidFill>
                <a:latin typeface="Arial"/>
                <a:ea typeface="Arial"/>
              </a:rPr>
              <a:t>Threshold grounded in PAN's own earnings data: platform customers at AHI ≥ 80 retain at 120% net revenue retention (NRR).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59"/>
          <p:cNvSpPr/>
          <p:nvPr/>
        </p:nvSpPr>
        <p:spPr>
          <a:xfrm>
            <a:off x="822960" y="4339722"/>
            <a:ext cx="7387920" cy="441036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60"/>
          <p:cNvSpPr/>
          <p:nvPr/>
        </p:nvSpPr>
        <p:spPr>
          <a:xfrm>
            <a:off x="822960" y="4321342"/>
            <a:ext cx="78451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1E293B"/>
                </a:solidFill>
                <a:latin typeface="Arial"/>
                <a:ea typeface="Arial"/>
              </a:rPr>
              <a:t>Weight rationale: </a:t>
            </a:r>
            <a:r>
              <a:rPr lang="en-US" sz="10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Consumption + Deployment = 50% — not deployed cannot be consumed. Stability acts as a ceiling. Expansion preserves bookings signal. Trend captures lifecycle direction.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FCF7D4-AA98-60AD-CD24-94C36401B448}"/>
              </a:ext>
            </a:extLst>
          </p:cNvPr>
          <p:cNvSpPr txBox="1"/>
          <p:nvPr/>
        </p:nvSpPr>
        <p:spPr>
          <a:xfrm>
            <a:off x="931653" y="1632915"/>
            <a:ext cx="31886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22322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296749" y="21727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1B3F6B"/>
                </a:solidFill>
                <a:latin typeface="Arial"/>
                <a:ea typeface="Arial"/>
              </a:rPr>
              <a:t>What Changes for CSMs: Before AHI vs. With AHI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365760" y="801764"/>
            <a:ext cx="84121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Arial"/>
                <a:ea typeface="Arial"/>
              </a:rPr>
              <a:t>How GCS measures and compensates Customer Success Managers (CSMs) — and the 3-step rollout path.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684933" y="1164566"/>
            <a:ext cx="237240" cy="237240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684933" y="1164566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  <a:ea typeface="Arial"/>
              </a:rPr>
              <a:t>★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977613" y="1164566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What changes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684933" y="1527362"/>
            <a:ext cx="1683360" cy="237240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684933" y="1527362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BEFORE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2659893" y="1527362"/>
            <a:ext cx="1682640" cy="237240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2659893" y="1527362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WITH AHI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9"/>
          <p:cNvSpPr/>
          <p:nvPr/>
        </p:nvSpPr>
        <p:spPr>
          <a:xfrm>
            <a:off x="684933" y="1838042"/>
            <a:ext cx="1683360" cy="38376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776373" y="19294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DC2626"/>
                </a:solidFill>
                <a:latin typeface="Arial"/>
                <a:ea typeface="Arial"/>
              </a:rPr>
              <a:t>Snapshot at signing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2230180" y="1911122"/>
            <a:ext cx="548640" cy="18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→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2678253" y="1838042"/>
            <a:ext cx="1682640" cy="38376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2769693" y="19294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0–100 monthly health score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684933" y="2295242"/>
            <a:ext cx="1683360" cy="38376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776373" y="23866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DC2626"/>
                </a:solidFill>
                <a:latin typeface="Arial"/>
                <a:ea typeface="Arial"/>
              </a:rPr>
              <a:t>Blind to consumption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2230180" y="2368322"/>
            <a:ext cx="548640" cy="18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→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7"/>
          <p:cNvSpPr/>
          <p:nvPr/>
        </p:nvSpPr>
        <p:spPr>
          <a:xfrm>
            <a:off x="2678253" y="2295242"/>
            <a:ext cx="1682640" cy="38376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2769693" y="23866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Deployment + usage tracked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9"/>
          <p:cNvSpPr/>
          <p:nvPr/>
        </p:nvSpPr>
        <p:spPr>
          <a:xfrm>
            <a:off x="684933" y="2752442"/>
            <a:ext cx="1683360" cy="38376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0"/>
          <p:cNvSpPr/>
          <p:nvPr/>
        </p:nvSpPr>
        <p:spPr>
          <a:xfrm>
            <a:off x="776373" y="28438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DC2626"/>
                </a:solidFill>
                <a:latin typeface="Arial"/>
                <a:ea typeface="Arial"/>
              </a:rPr>
              <a:t>No anomaly detection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1"/>
          <p:cNvSpPr/>
          <p:nvPr/>
        </p:nvSpPr>
        <p:spPr>
          <a:xfrm>
            <a:off x="2230180" y="2825522"/>
            <a:ext cx="548640" cy="18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→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2678253" y="2752442"/>
            <a:ext cx="1682640" cy="38376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3"/>
          <p:cNvSpPr/>
          <p:nvPr/>
        </p:nvSpPr>
        <p:spPr>
          <a:xfrm>
            <a:off x="2769693" y="28438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Shelfware, overages flagged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4"/>
          <p:cNvSpPr/>
          <p:nvPr/>
        </p:nvSpPr>
        <p:spPr>
          <a:xfrm>
            <a:off x="684933" y="3209642"/>
            <a:ext cx="1683360" cy="38376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5"/>
          <p:cNvSpPr/>
          <p:nvPr/>
        </p:nvSpPr>
        <p:spPr>
          <a:xfrm>
            <a:off x="776373" y="33010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DC2626"/>
                </a:solidFill>
                <a:latin typeface="Arial"/>
                <a:ea typeface="Arial"/>
              </a:rPr>
              <a:t>Lagging renewal signal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6"/>
          <p:cNvSpPr/>
          <p:nvPr/>
        </p:nvSpPr>
        <p:spPr>
          <a:xfrm>
            <a:off x="2230180" y="3282722"/>
            <a:ext cx="548640" cy="18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→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7"/>
          <p:cNvSpPr/>
          <p:nvPr/>
        </p:nvSpPr>
        <p:spPr>
          <a:xfrm>
            <a:off x="2678253" y="3209642"/>
            <a:ext cx="1682640" cy="38376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8"/>
          <p:cNvSpPr/>
          <p:nvPr/>
        </p:nvSpPr>
        <p:spPr>
          <a:xfrm>
            <a:off x="2769693" y="33010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90-day early warning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9"/>
          <p:cNvSpPr/>
          <p:nvPr/>
        </p:nvSpPr>
        <p:spPr>
          <a:xfrm>
            <a:off x="684933" y="3666842"/>
            <a:ext cx="1683360" cy="38376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0"/>
          <p:cNvSpPr/>
          <p:nvPr/>
        </p:nvSpPr>
        <p:spPr>
          <a:xfrm>
            <a:off x="776373" y="37582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DC2626"/>
                </a:solidFill>
                <a:latin typeface="Arial"/>
                <a:ea typeface="Arial"/>
              </a:rPr>
              <a:t>Comp on booking size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2230180" y="3739922"/>
            <a:ext cx="548640" cy="18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→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32"/>
          <p:cNvSpPr/>
          <p:nvPr/>
        </p:nvSpPr>
        <p:spPr>
          <a:xfrm>
            <a:off x="2678253" y="3666842"/>
            <a:ext cx="1682640" cy="38376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33"/>
          <p:cNvSpPr/>
          <p:nvPr/>
        </p:nvSpPr>
        <p:spPr>
          <a:xfrm>
            <a:off x="2769693" y="3758282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Comp on account health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34"/>
          <p:cNvSpPr/>
          <p:nvPr/>
        </p:nvSpPr>
        <p:spPr>
          <a:xfrm>
            <a:off x="684933" y="4187750"/>
            <a:ext cx="4388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64748B"/>
                </a:solidFill>
                <a:latin typeface="Arial"/>
                <a:ea typeface="Arial"/>
              </a:rPr>
              <a:t>Comp attaches after 90-day shadow period validates the metric.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35"/>
          <p:cNvSpPr/>
          <p:nvPr/>
        </p:nvSpPr>
        <p:spPr>
          <a:xfrm>
            <a:off x="4982613" y="1164566"/>
            <a:ext cx="237240" cy="23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36"/>
          <p:cNvSpPr/>
          <p:nvPr/>
        </p:nvSpPr>
        <p:spPr>
          <a:xfrm>
            <a:off x="4982613" y="1164566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○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37"/>
          <p:cNvSpPr/>
          <p:nvPr/>
        </p:nvSpPr>
        <p:spPr>
          <a:xfrm>
            <a:off x="5275293" y="1164566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Rollout path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38"/>
          <p:cNvSpPr/>
          <p:nvPr/>
        </p:nvSpPr>
        <p:spPr>
          <a:xfrm>
            <a:off x="5147133" y="1475246"/>
            <a:ext cx="360" cy="2853000"/>
          </a:xfrm>
          <a:prstGeom prst="line">
            <a:avLst/>
          </a:prstGeom>
          <a:ln w="19050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39"/>
          <p:cNvSpPr/>
          <p:nvPr/>
        </p:nvSpPr>
        <p:spPr>
          <a:xfrm>
            <a:off x="4982613" y="1493606"/>
            <a:ext cx="328680" cy="328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40"/>
          <p:cNvSpPr>
            <a:spLocks/>
          </p:cNvSpPr>
          <p:nvPr/>
        </p:nvSpPr>
        <p:spPr>
          <a:xfrm>
            <a:off x="4982613" y="1493606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Now</a:t>
            </a:r>
            <a:endParaRPr lang="en-US" sz="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41"/>
          <p:cNvSpPr/>
          <p:nvPr/>
        </p:nvSpPr>
        <p:spPr>
          <a:xfrm>
            <a:off x="5421453" y="1475606"/>
            <a:ext cx="2926080" cy="73152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42"/>
          <p:cNvSpPr/>
          <p:nvPr/>
        </p:nvSpPr>
        <p:spPr>
          <a:xfrm>
            <a:off x="5567973" y="1530326"/>
            <a:ext cx="321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563EB"/>
                </a:solidFill>
                <a:latin typeface="Arial"/>
                <a:ea typeface="Arial"/>
              </a:rPr>
              <a:t>Shadow period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43"/>
          <p:cNvSpPr/>
          <p:nvPr/>
        </p:nvSpPr>
        <p:spPr>
          <a:xfrm>
            <a:off x="5567973" y="1767926"/>
            <a:ext cx="2798214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 dirty="0">
                <a:solidFill>
                  <a:srgbClr val="64748B"/>
                </a:solidFill>
                <a:latin typeface="Arial"/>
                <a:ea typeface="Arial"/>
              </a:rPr>
              <a:t>AHI visible to CSMs (Customer Success Managers). Zero comp impact.</a:t>
            </a:r>
            <a:endParaRPr lang="en-US" sz="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44"/>
          <p:cNvSpPr>
            <a:spLocks/>
          </p:cNvSpPr>
          <p:nvPr/>
        </p:nvSpPr>
        <p:spPr>
          <a:xfrm>
            <a:off x="4982613" y="2444726"/>
            <a:ext cx="328680" cy="3286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45"/>
          <p:cNvSpPr/>
          <p:nvPr/>
        </p:nvSpPr>
        <p:spPr>
          <a:xfrm>
            <a:off x="4982613" y="2444726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Day 90</a:t>
            </a:r>
            <a:endParaRPr lang="en-US" sz="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46"/>
          <p:cNvSpPr/>
          <p:nvPr/>
        </p:nvSpPr>
        <p:spPr>
          <a:xfrm>
            <a:off x="5421453" y="2426366"/>
            <a:ext cx="2926080" cy="73152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47"/>
          <p:cNvSpPr/>
          <p:nvPr/>
        </p:nvSpPr>
        <p:spPr>
          <a:xfrm>
            <a:off x="5567973" y="2481446"/>
            <a:ext cx="321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D97706"/>
                </a:solidFill>
                <a:latin typeface="Arial"/>
                <a:ea typeface="Arial"/>
              </a:rPr>
              <a:t>Validation gate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48"/>
          <p:cNvSpPr/>
          <p:nvPr/>
        </p:nvSpPr>
        <p:spPr>
          <a:xfrm>
            <a:off x="5567973" y="2719046"/>
            <a:ext cx="3218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4748B"/>
                </a:solidFill>
                <a:latin typeface="Arial"/>
                <a:ea typeface="Arial"/>
              </a:rPr>
              <a:t>Customer Success (CS) leadership review. &lt;30% disagreement → comp attaches Q2.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49"/>
          <p:cNvSpPr>
            <a:spLocks/>
          </p:cNvSpPr>
          <p:nvPr/>
        </p:nvSpPr>
        <p:spPr>
          <a:xfrm>
            <a:off x="4982613" y="3395846"/>
            <a:ext cx="328680" cy="3286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50"/>
          <p:cNvSpPr/>
          <p:nvPr/>
        </p:nvSpPr>
        <p:spPr>
          <a:xfrm>
            <a:off x="4982613" y="3395846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Arial"/>
                <a:ea typeface="Arial"/>
              </a:rPr>
              <a:t>Mo 12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51"/>
          <p:cNvSpPr/>
          <p:nvPr/>
        </p:nvSpPr>
        <p:spPr>
          <a:xfrm>
            <a:off x="5421453" y="3377486"/>
            <a:ext cx="2926080" cy="73152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52"/>
          <p:cNvSpPr/>
          <p:nvPr/>
        </p:nvSpPr>
        <p:spPr>
          <a:xfrm>
            <a:off x="5567973" y="3432206"/>
            <a:ext cx="321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6A34A"/>
                </a:solidFill>
                <a:latin typeface="Arial"/>
                <a:ea typeface="Arial"/>
              </a:rPr>
              <a:t>v2 launch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53"/>
          <p:cNvSpPr/>
          <p:nvPr/>
        </p:nvSpPr>
        <p:spPr>
          <a:xfrm>
            <a:off x="5567973" y="3670166"/>
            <a:ext cx="3218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4748B"/>
                </a:solidFill>
                <a:latin typeface="Arial"/>
                <a:ea typeface="Arial"/>
              </a:rPr>
              <a:t>Statistical weights. LLM briefs. Agentic alerts.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54"/>
          <p:cNvSpPr/>
          <p:nvPr/>
        </p:nvSpPr>
        <p:spPr>
          <a:xfrm>
            <a:off x="684933" y="4443710"/>
            <a:ext cx="7662240" cy="29232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12700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55"/>
          <p:cNvSpPr/>
          <p:nvPr/>
        </p:nvSpPr>
        <p:spPr>
          <a:xfrm>
            <a:off x="867813" y="448007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B3F6B"/>
                </a:solidFill>
                <a:latin typeface="Arial"/>
                <a:ea typeface="Arial"/>
              </a:rPr>
              <a:t>KPIs:  15pp renewal improvement  ·  &lt;14 days to intervention  ·  70%+ CSM adoption within 60 days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365760" y="164520"/>
            <a:ext cx="8412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1B3F6B"/>
                </a:solidFill>
                <a:latin typeface="Arial"/>
                <a:ea typeface="Arial"/>
              </a:rPr>
              <a:t>How AHI Drives CSM Action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365760" y="699355"/>
            <a:ext cx="8412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64748B"/>
                </a:solidFill>
                <a:latin typeface="Arial"/>
                <a:ea typeface="Arial"/>
              </a:rPr>
              <a:t>AHI detects at-risk accounts, surfaces plain-English recommendations, and logs every CSM action to improve over time.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365760" y="1151379"/>
            <a:ext cx="2706120" cy="2103120"/>
          </a:xfrm>
          <a:prstGeom prst="roundRect">
            <a:avLst>
              <a:gd name="adj" fmla="val 4808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493920" y="1261179"/>
            <a:ext cx="310680" cy="310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493920" y="1261179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877680" y="1279539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AHI signal fires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2615040" y="1242819"/>
            <a:ext cx="328680" cy="328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2615040" y="1242819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AI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493920" y="1645299"/>
            <a:ext cx="24501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Arial"/>
                <a:ea typeface="Arial"/>
              </a:rPr>
              <a:t>Account crosses threshold. Claude API generates a plain-English narrative — which dimension drove the drop and what the CSM should do.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9"/>
          <p:cNvSpPr/>
          <p:nvPr/>
        </p:nvSpPr>
        <p:spPr>
          <a:xfrm>
            <a:off x="493920" y="2747882"/>
            <a:ext cx="2450160" cy="2556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493920" y="2747882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i="1" strike="noStrike" spc="-1">
                <a:solidFill>
                  <a:srgbClr val="2563EB"/>
                </a:solidFill>
                <a:latin typeface="Arial"/>
                <a:ea typeface="Arial"/>
              </a:rPr>
              <a:t>AI speaks only when AHI &lt; 80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3218760" y="1151379"/>
            <a:ext cx="2706120" cy="2103120"/>
          </a:xfrm>
          <a:prstGeom prst="roundRect">
            <a:avLst>
              <a:gd name="adj" fmla="val 4808"/>
            </a:avLst>
          </a:prstGeom>
          <a:solidFill>
            <a:srgbClr val="FEF3C7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3346560" y="1261179"/>
            <a:ext cx="310680" cy="3106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3346560" y="1261179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3730680" y="1279539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CSM decides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5468040" y="1242819"/>
            <a:ext cx="328680" cy="3286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5468040" y="1242819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3346560" y="1645299"/>
            <a:ext cx="24501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Arial"/>
                <a:ea typeface="Arial"/>
              </a:rPr>
              <a:t>Narrative is a recommendation, not a command. CSM reads, decides — escalate, call the customer, or flag for manager review.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8"/>
          <p:cNvSpPr/>
          <p:nvPr/>
        </p:nvSpPr>
        <p:spPr>
          <a:xfrm>
            <a:off x="3346560" y="2747882"/>
            <a:ext cx="2450160" cy="2556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3346560" y="2747882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i="1" strike="noStrike" spc="-1">
                <a:solidFill>
                  <a:srgbClr val="D97706"/>
                </a:solidFill>
                <a:latin typeface="Arial"/>
                <a:ea typeface="Arial"/>
              </a:rPr>
              <a:t>Override logged → feeds v2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0"/>
          <p:cNvSpPr/>
          <p:nvPr/>
        </p:nvSpPr>
        <p:spPr>
          <a:xfrm>
            <a:off x="6071760" y="1151379"/>
            <a:ext cx="2706120" cy="2103120"/>
          </a:xfrm>
          <a:prstGeom prst="roundRect">
            <a:avLst>
              <a:gd name="adj" fmla="val 4808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1"/>
          <p:cNvSpPr/>
          <p:nvPr/>
        </p:nvSpPr>
        <p:spPr>
          <a:xfrm>
            <a:off x="6199560" y="1261179"/>
            <a:ext cx="310680" cy="3106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6199560" y="1261179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6583680" y="1279539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Outcome logged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4"/>
          <p:cNvSpPr/>
          <p:nvPr/>
        </p:nvSpPr>
        <p:spPr>
          <a:xfrm>
            <a:off x="8321040" y="1242819"/>
            <a:ext cx="328680" cy="3286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8321040" y="1242819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✓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6199560" y="1645299"/>
            <a:ext cx="24501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Arial"/>
                <a:ea typeface="Arial"/>
              </a:rPr>
              <a:t>Action recorded: acted / dismissed / escalated. Signal + action + renewal outcome = labeled data for v2 weight calibration.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27"/>
          <p:cNvSpPr/>
          <p:nvPr/>
        </p:nvSpPr>
        <p:spPr>
          <a:xfrm>
            <a:off x="6199560" y="2747882"/>
            <a:ext cx="2450160" cy="2556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6199560" y="2747882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i="1" strike="noStrike" spc="-1">
                <a:solidFill>
                  <a:srgbClr val="16A34A"/>
                </a:solidFill>
                <a:latin typeface="Arial"/>
                <a:ea typeface="Arial"/>
              </a:rPr>
              <a:t>The loop is the point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9"/>
          <p:cNvSpPr/>
          <p:nvPr/>
        </p:nvSpPr>
        <p:spPr>
          <a:xfrm>
            <a:off x="365760" y="3597698"/>
            <a:ext cx="8412120" cy="9140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0"/>
          <p:cNvSpPr/>
          <p:nvPr/>
        </p:nvSpPr>
        <p:spPr>
          <a:xfrm>
            <a:off x="402480" y="3615698"/>
            <a:ext cx="383760" cy="310680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1"/>
          <p:cNvSpPr/>
          <p:nvPr/>
        </p:nvSpPr>
        <p:spPr>
          <a:xfrm>
            <a:off x="402480" y="3615698"/>
            <a:ext cx="383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563EB"/>
                </a:solidFill>
                <a:latin typeface="Courier New"/>
                <a:ea typeface="Courier New"/>
              </a:rPr>
              <a:t>{}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914400" y="3689138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F6B"/>
                </a:solidFill>
                <a:latin typeface="Arial"/>
                <a:ea typeface="Arial"/>
              </a:rPr>
              <a:t>AI-first, spec-driven build — end to end in one day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3"/>
          <p:cNvSpPr/>
          <p:nvPr/>
        </p:nvSpPr>
        <p:spPr>
          <a:xfrm>
            <a:off x="402480" y="3981458"/>
            <a:ext cx="200880" cy="200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34"/>
          <p:cNvSpPr/>
          <p:nvPr/>
        </p:nvSpPr>
        <p:spPr>
          <a:xfrm>
            <a:off x="402480" y="3981458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35"/>
          <p:cNvSpPr/>
          <p:nvPr/>
        </p:nvSpPr>
        <p:spPr>
          <a:xfrm>
            <a:off x="658440" y="3963458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563EB"/>
                </a:solidFill>
                <a:latin typeface="Arial"/>
                <a:ea typeface="Arial"/>
              </a:rPr>
              <a:t>Spec before code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36"/>
          <p:cNvSpPr/>
          <p:nvPr/>
        </p:nvSpPr>
        <p:spPr>
          <a:xfrm>
            <a:off x="658440" y="4164338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14-section PRD before any SQL or Python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37"/>
          <p:cNvSpPr/>
          <p:nvPr/>
        </p:nvSpPr>
        <p:spPr>
          <a:xfrm>
            <a:off x="2505600" y="3981458"/>
            <a:ext cx="200880" cy="200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38"/>
          <p:cNvSpPr/>
          <p:nvPr/>
        </p:nvSpPr>
        <p:spPr>
          <a:xfrm>
            <a:off x="2505600" y="3981458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39"/>
          <p:cNvSpPr/>
          <p:nvPr/>
        </p:nvSpPr>
        <p:spPr>
          <a:xfrm>
            <a:off x="2761560" y="3963458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563EB"/>
                </a:solidFill>
                <a:latin typeface="Arial"/>
                <a:ea typeface="Arial"/>
              </a:rPr>
              <a:t>AI data generation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40"/>
          <p:cNvSpPr/>
          <p:nvPr/>
        </p:nvSpPr>
        <p:spPr>
          <a:xfrm>
            <a:off x="2761560" y="4164338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Claude wrote the Python. 214K events, 5 edge cases.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1"/>
          <p:cNvSpPr/>
          <p:nvPr/>
        </p:nvSpPr>
        <p:spPr>
          <a:xfrm>
            <a:off x="4608720" y="3981458"/>
            <a:ext cx="200880" cy="200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42"/>
          <p:cNvSpPr/>
          <p:nvPr/>
        </p:nvSpPr>
        <p:spPr>
          <a:xfrm>
            <a:off x="4608720" y="3981458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43"/>
          <p:cNvSpPr/>
          <p:nvPr/>
        </p:nvSpPr>
        <p:spPr>
          <a:xfrm>
            <a:off x="4864680" y="3963458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563EB"/>
                </a:solidFill>
                <a:latin typeface="Arial"/>
                <a:ea typeface="Arial"/>
              </a:rPr>
              <a:t>BigQuery pipeline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44"/>
          <p:cNvSpPr/>
          <p:nvPr/>
        </p:nvSpPr>
        <p:spPr>
          <a:xfrm>
            <a:off x="4864680" y="4164338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6-step SQL. Linear regression. Isolation Forest.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45"/>
          <p:cNvSpPr/>
          <p:nvPr/>
        </p:nvSpPr>
        <p:spPr>
          <a:xfrm>
            <a:off x="6711840" y="3981458"/>
            <a:ext cx="200880" cy="200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46"/>
          <p:cNvSpPr/>
          <p:nvPr/>
        </p:nvSpPr>
        <p:spPr>
          <a:xfrm>
            <a:off x="6711840" y="3981458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47"/>
          <p:cNvSpPr/>
          <p:nvPr/>
        </p:nvSpPr>
        <p:spPr>
          <a:xfrm>
            <a:off x="6967800" y="3963458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563EB"/>
                </a:solidFill>
                <a:latin typeface="Arial"/>
                <a:ea typeface="Arial"/>
              </a:rPr>
              <a:t>Live dashboard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48"/>
          <p:cNvSpPr/>
          <p:nvPr/>
        </p:nvSpPr>
        <p:spPr>
          <a:xfrm>
            <a:off x="6967800" y="4164338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HTML + Node.js + BigQuery.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365760" y="1645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1B3F6B"/>
                </a:solidFill>
                <a:latin typeface="Arial"/>
                <a:ea typeface="Arial"/>
              </a:rPr>
              <a:t>The path forward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"/>
          <p:cNvSpPr/>
          <p:nvPr/>
        </p:nvSpPr>
        <p:spPr>
          <a:xfrm>
            <a:off x="519765" y="770582"/>
            <a:ext cx="8174160" cy="848966"/>
          </a:xfrm>
          <a:prstGeom prst="roundRect">
            <a:avLst>
              <a:gd name="adj" fmla="val 9434"/>
            </a:avLst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665925" y="916742"/>
            <a:ext cx="347040" cy="347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665925" y="916742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Arial"/>
              </a:rPr>
              <a:t>↑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684285" y="935102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↑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1123125" y="825302"/>
            <a:ext cx="74977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Arial"/>
                <a:ea typeface="Arial"/>
              </a:rPr>
              <a:t>Adopt AHI as the North Star Metric for GCS.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1123125" y="1136342"/>
            <a:ext cx="74977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8F0FB"/>
                </a:solidFill>
                <a:latin typeface="Arial"/>
                <a:ea typeface="Arial"/>
              </a:rPr>
              <a:t>Replace Total Contract Value (TCV) as the primary CSM metric. 90-day shadow — no comp impact. Review at day 90. Comp attaches for Q2 if validation passes. I own this.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519765" y="1849502"/>
            <a:ext cx="2504880" cy="129816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8"/>
          <p:cNvSpPr/>
          <p:nvPr/>
        </p:nvSpPr>
        <p:spPr>
          <a:xfrm>
            <a:off x="665925" y="1959302"/>
            <a:ext cx="676440" cy="21924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665925" y="1959302"/>
            <a:ext cx="676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Step 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665925" y="2215262"/>
            <a:ext cx="235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F6B"/>
                </a:solidFill>
                <a:latin typeface="Arial"/>
                <a:ea typeface="Arial"/>
              </a:rPr>
              <a:t>Run 90-day shadow period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665925" y="2526302"/>
            <a:ext cx="2358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4748B"/>
                </a:solidFill>
                <a:latin typeface="Arial"/>
                <a:ea typeface="Arial"/>
              </a:rPr>
              <a:t>AHI visible to CSMs from Day 1. Zero comp impact. Catch gaming, verify weights against expert judgment.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2"/>
          <p:cNvSpPr/>
          <p:nvPr/>
        </p:nvSpPr>
        <p:spPr>
          <a:xfrm>
            <a:off x="3354405" y="1849502"/>
            <a:ext cx="2504880" cy="12981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3"/>
          <p:cNvSpPr/>
          <p:nvPr/>
        </p:nvSpPr>
        <p:spPr>
          <a:xfrm>
            <a:off x="3500565" y="1959302"/>
            <a:ext cx="676440" cy="21924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4"/>
          <p:cNvSpPr/>
          <p:nvPr/>
        </p:nvSpPr>
        <p:spPr>
          <a:xfrm>
            <a:off x="3500565" y="1959302"/>
            <a:ext cx="676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Step 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5"/>
          <p:cNvSpPr/>
          <p:nvPr/>
        </p:nvSpPr>
        <p:spPr>
          <a:xfrm>
            <a:off x="3500565" y="2215262"/>
            <a:ext cx="235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F6B"/>
                </a:solidFill>
                <a:latin typeface="Arial"/>
                <a:ea typeface="Arial"/>
              </a:rPr>
              <a:t>Validate and attach comp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6"/>
          <p:cNvSpPr/>
          <p:nvPr/>
        </p:nvSpPr>
        <p:spPr>
          <a:xfrm>
            <a:off x="3500565" y="2526302"/>
            <a:ext cx="2358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4748B"/>
                </a:solidFill>
                <a:latin typeface="Arial"/>
                <a:ea typeface="Arial"/>
              </a:rPr>
              <a:t>CS leadership review at Day 90. If disagreement &lt;30%, attach comp for Q2.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7"/>
          <p:cNvSpPr/>
          <p:nvPr/>
        </p:nvSpPr>
        <p:spPr>
          <a:xfrm>
            <a:off x="6189045" y="1849502"/>
            <a:ext cx="2504880" cy="12981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8"/>
          <p:cNvSpPr/>
          <p:nvPr/>
        </p:nvSpPr>
        <p:spPr>
          <a:xfrm>
            <a:off x="6335205" y="1959302"/>
            <a:ext cx="676440" cy="21924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9"/>
          <p:cNvSpPr/>
          <p:nvPr/>
        </p:nvSpPr>
        <p:spPr>
          <a:xfrm>
            <a:off x="6335205" y="1959302"/>
            <a:ext cx="676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Step 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20"/>
          <p:cNvSpPr/>
          <p:nvPr/>
        </p:nvSpPr>
        <p:spPr>
          <a:xfrm>
            <a:off x="6335205" y="2215262"/>
            <a:ext cx="235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F6B"/>
                </a:solidFill>
                <a:latin typeface="Arial"/>
                <a:ea typeface="Arial"/>
              </a:rPr>
              <a:t>Launch AHI v2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1"/>
          <p:cNvSpPr/>
          <p:nvPr/>
        </p:nvSpPr>
        <p:spPr>
          <a:xfrm>
            <a:off x="6335205" y="2526302"/>
            <a:ext cx="2358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4748B"/>
                </a:solidFill>
                <a:latin typeface="Arial"/>
                <a:ea typeface="Arial"/>
              </a:rPr>
              <a:t>Statistical weight recalibration. LLM intervention briefs per account. Agentic CSM alerts.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2"/>
          <p:cNvSpPr/>
          <p:nvPr/>
        </p:nvSpPr>
        <p:spPr>
          <a:xfrm>
            <a:off x="519765" y="3377616"/>
            <a:ext cx="8174160" cy="1050696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23"/>
          <p:cNvSpPr/>
          <p:nvPr/>
        </p:nvSpPr>
        <p:spPr>
          <a:xfrm>
            <a:off x="739365" y="3421809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 dirty="0">
                <a:solidFill>
                  <a:srgbClr val="1B3F6B"/>
                </a:solidFill>
                <a:latin typeface="Arial"/>
                <a:ea typeface="Arial"/>
              </a:rPr>
              <a:t>What AHI delivers: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4"/>
          <p:cNvSpPr/>
          <p:nvPr/>
        </p:nvSpPr>
        <p:spPr>
          <a:xfrm>
            <a:off x="739365" y="3646226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✓  Single score replacing Total Contract Value (TCV)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5"/>
          <p:cNvSpPr/>
          <p:nvPr/>
        </p:nvSpPr>
        <p:spPr>
          <a:xfrm>
            <a:off x="4945605" y="3646226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Arial"/>
                <a:ea typeface="Arial"/>
              </a:rPr>
              <a:t>✓  Shelfware and anomalies visible before renewal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6"/>
          <p:cNvSpPr/>
          <p:nvPr/>
        </p:nvSpPr>
        <p:spPr>
          <a:xfrm>
            <a:off x="739365" y="3998803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Arial"/>
                <a:ea typeface="Arial"/>
              </a:rPr>
              <a:t>✓  Comp tied to deployment and consumption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7"/>
          <p:cNvSpPr/>
          <p:nvPr/>
        </p:nvSpPr>
        <p:spPr>
          <a:xfrm>
            <a:off x="4945605" y="3998803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Arial"/>
                <a:ea typeface="Arial"/>
              </a:rPr>
              <a:t>✓  Foundation for LLM briefs and agentic alerts in v2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8"/>
          <p:cNvSpPr/>
          <p:nvPr/>
        </p:nvSpPr>
        <p:spPr>
          <a:xfrm>
            <a:off x="519765" y="4556472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i="1" strike="noStrike" spc="-1">
                <a:solidFill>
                  <a:srgbClr val="64748B"/>
                </a:solidFill>
                <a:latin typeface="Arial"/>
                <a:ea typeface="Arial"/>
              </a:rPr>
              <a:t>AHI v1 is the right first thing to build. The agentic layer is v2. The foundation is already there.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402480" y="20124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402480" y="201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969120" y="2376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1B3F6B"/>
                </a:solidFill>
                <a:latin typeface="Arial"/>
                <a:ea typeface="Arial"/>
              </a:rPr>
              <a:t>APPENDIX B — Assumptions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3"/>
          <p:cNvSpPr/>
          <p:nvPr/>
        </p:nvSpPr>
        <p:spPr>
          <a:xfrm>
            <a:off x="548640" y="6584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Arial"/>
                <a:ea typeface="Arial"/>
              </a:rPr>
              <a:t>Documented before any code. To be validated against real PAN data during the 90-day shadow period.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4"/>
          <p:cNvSpPr/>
          <p:nvPr/>
        </p:nvSpPr>
        <p:spPr>
          <a:xfrm>
            <a:off x="521033" y="1192658"/>
            <a:ext cx="2478125" cy="29232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5"/>
          <p:cNvSpPr/>
          <p:nvPr/>
        </p:nvSpPr>
        <p:spPr>
          <a:xfrm>
            <a:off x="521033" y="1192658"/>
            <a:ext cx="2478125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2563EB"/>
                </a:solidFill>
                <a:latin typeface="Arial"/>
                <a:ea typeface="Arial"/>
              </a:rPr>
              <a:t>Data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6"/>
          <p:cNvSpPr/>
          <p:nvPr/>
        </p:nvSpPr>
        <p:spPr>
          <a:xfrm>
            <a:off x="521033" y="1618801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7"/>
          <p:cNvSpPr/>
          <p:nvPr/>
        </p:nvSpPr>
        <p:spPr>
          <a:xfrm>
            <a:off x="630833" y="1801681"/>
            <a:ext cx="109440" cy="109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8"/>
          <p:cNvSpPr/>
          <p:nvPr/>
        </p:nvSpPr>
        <p:spPr>
          <a:xfrm>
            <a:off x="795353" y="1673521"/>
            <a:ext cx="2137626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1,000 accounts / 50 CSMs (~20 each) / 12 months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9"/>
          <p:cNvSpPr/>
          <p:nvPr/>
        </p:nvSpPr>
        <p:spPr>
          <a:xfrm>
            <a:off x="521033" y="2334301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0"/>
          <p:cNvSpPr/>
          <p:nvPr/>
        </p:nvSpPr>
        <p:spPr>
          <a:xfrm>
            <a:off x="630833" y="2517181"/>
            <a:ext cx="109440" cy="109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1"/>
          <p:cNvSpPr/>
          <p:nvPr/>
        </p:nvSpPr>
        <p:spPr>
          <a:xfrm>
            <a:off x="795353" y="2389021"/>
            <a:ext cx="2137626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Edge case rates are estimates: 5% spike-and-drop, 10% shelfware, 15% overages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2"/>
          <p:cNvSpPr/>
          <p:nvPr/>
        </p:nvSpPr>
        <p:spPr>
          <a:xfrm>
            <a:off x="521033" y="3049800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3"/>
          <p:cNvSpPr/>
          <p:nvPr/>
        </p:nvSpPr>
        <p:spPr>
          <a:xfrm>
            <a:off x="630833" y="3232680"/>
            <a:ext cx="109440" cy="109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4"/>
          <p:cNvSpPr/>
          <p:nvPr/>
        </p:nvSpPr>
        <p:spPr>
          <a:xfrm>
            <a:off x="795353" y="3104880"/>
            <a:ext cx="2137626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High ARR shelfware = above portfolio median (~$2M+)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5"/>
          <p:cNvSpPr/>
          <p:nvPr/>
        </p:nvSpPr>
        <p:spPr>
          <a:xfrm>
            <a:off x="521033" y="3765660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6"/>
          <p:cNvSpPr/>
          <p:nvPr/>
        </p:nvSpPr>
        <p:spPr>
          <a:xfrm>
            <a:off x="630833" y="3948540"/>
            <a:ext cx="109440" cy="109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7"/>
          <p:cNvSpPr/>
          <p:nvPr/>
        </p:nvSpPr>
        <p:spPr>
          <a:xfrm>
            <a:off x="795353" y="3820380"/>
            <a:ext cx="241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Spike-and-drop: 90%+ credits in month 1 then near-zero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18"/>
          <p:cNvSpPr/>
          <p:nvPr/>
        </p:nvSpPr>
        <p:spPr>
          <a:xfrm>
            <a:off x="3310200" y="1192658"/>
            <a:ext cx="2478125" cy="29232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905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9"/>
          <p:cNvSpPr/>
          <p:nvPr/>
        </p:nvSpPr>
        <p:spPr>
          <a:xfrm>
            <a:off x="3310200" y="1192658"/>
            <a:ext cx="2470481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7C3AED"/>
                </a:solidFill>
                <a:latin typeface="Arial"/>
                <a:ea typeface="Arial"/>
              </a:rPr>
              <a:t>Metric Design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0"/>
          <p:cNvSpPr/>
          <p:nvPr/>
        </p:nvSpPr>
        <p:spPr>
          <a:xfrm>
            <a:off x="3310200" y="1618801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21"/>
          <p:cNvSpPr/>
          <p:nvPr/>
        </p:nvSpPr>
        <p:spPr>
          <a:xfrm>
            <a:off x="3420000" y="1801681"/>
            <a:ext cx="109440" cy="109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22"/>
          <p:cNvSpPr/>
          <p:nvPr/>
        </p:nvSpPr>
        <p:spPr>
          <a:xfrm>
            <a:off x="3584520" y="1673521"/>
            <a:ext cx="2203805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AHI ≥ 80 = Healthy — grounded in PAN 120% net revenue retention (NRR) data (Q4 FY2025 + Q2 FY2026)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23"/>
          <p:cNvSpPr/>
          <p:nvPr/>
        </p:nvSpPr>
        <p:spPr>
          <a:xfrm>
            <a:off x="3310200" y="2334301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24"/>
          <p:cNvSpPr/>
          <p:nvPr/>
        </p:nvSpPr>
        <p:spPr>
          <a:xfrm>
            <a:off x="3420000" y="2517181"/>
            <a:ext cx="109440" cy="109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25"/>
          <p:cNvSpPr/>
          <p:nvPr/>
        </p:nvSpPr>
        <p:spPr>
          <a:xfrm>
            <a:off x="3584520" y="2389021"/>
            <a:ext cx="241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v1 weights are PM hypotheses — shadow period recalibrates on renewal outcomes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26"/>
          <p:cNvSpPr/>
          <p:nvPr/>
        </p:nvSpPr>
        <p:spPr>
          <a:xfrm>
            <a:off x="3310200" y="3049800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27"/>
          <p:cNvSpPr/>
          <p:nvPr/>
        </p:nvSpPr>
        <p:spPr>
          <a:xfrm>
            <a:off x="3420000" y="3232680"/>
            <a:ext cx="109440" cy="109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28"/>
          <p:cNvSpPr/>
          <p:nvPr/>
        </p:nvSpPr>
        <p:spPr>
          <a:xfrm>
            <a:off x="3584520" y="3104880"/>
            <a:ext cx="241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Overage penalty: 120% threshold, 0.85× multiplier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9"/>
          <p:cNvSpPr/>
          <p:nvPr/>
        </p:nvSpPr>
        <p:spPr>
          <a:xfrm>
            <a:off x="3310200" y="3765660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30"/>
          <p:cNvSpPr/>
          <p:nvPr/>
        </p:nvSpPr>
        <p:spPr>
          <a:xfrm>
            <a:off x="3420000" y="3948540"/>
            <a:ext cx="109440" cy="109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31"/>
          <p:cNvSpPr/>
          <p:nvPr/>
        </p:nvSpPr>
        <p:spPr>
          <a:xfrm>
            <a:off x="3584520" y="3820380"/>
            <a:ext cx="241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Stability proxied by health color — production uses ticket data by severity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32"/>
          <p:cNvSpPr/>
          <p:nvPr/>
        </p:nvSpPr>
        <p:spPr>
          <a:xfrm>
            <a:off x="6082116" y="1192658"/>
            <a:ext cx="2478125" cy="29232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905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33"/>
          <p:cNvSpPr/>
          <p:nvPr/>
        </p:nvSpPr>
        <p:spPr>
          <a:xfrm>
            <a:off x="6082116" y="1192658"/>
            <a:ext cx="2478125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B45309"/>
                </a:solidFill>
                <a:latin typeface="Arial"/>
                <a:ea typeface="Arial"/>
              </a:rPr>
              <a:t>Pipeline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34"/>
          <p:cNvSpPr/>
          <p:nvPr/>
        </p:nvSpPr>
        <p:spPr>
          <a:xfrm>
            <a:off x="6082116" y="1618801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35"/>
          <p:cNvSpPr/>
          <p:nvPr/>
        </p:nvSpPr>
        <p:spPr>
          <a:xfrm>
            <a:off x="6191556" y="1801681"/>
            <a:ext cx="109440" cy="109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36"/>
          <p:cNvSpPr/>
          <p:nvPr/>
        </p:nvSpPr>
        <p:spPr>
          <a:xfrm>
            <a:off x="6356436" y="1673521"/>
            <a:ext cx="2203805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Monthly cadence — weekly for Enterprise accounts in v2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37"/>
          <p:cNvSpPr/>
          <p:nvPr/>
        </p:nvSpPr>
        <p:spPr>
          <a:xfrm>
            <a:off x="6082116" y="2334301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38"/>
          <p:cNvSpPr/>
          <p:nvPr/>
        </p:nvSpPr>
        <p:spPr>
          <a:xfrm>
            <a:off x="6191556" y="2517181"/>
            <a:ext cx="109440" cy="109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39"/>
          <p:cNvSpPr/>
          <p:nvPr/>
        </p:nvSpPr>
        <p:spPr>
          <a:xfrm>
            <a:off x="6356436" y="2389021"/>
            <a:ext cx="241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ARR-weighted rollup — larger accounts carry more weight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40"/>
          <p:cNvSpPr/>
          <p:nvPr/>
        </p:nvSpPr>
        <p:spPr>
          <a:xfrm>
            <a:off x="6082116" y="3049800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41"/>
          <p:cNvSpPr/>
          <p:nvPr/>
        </p:nvSpPr>
        <p:spPr>
          <a:xfrm>
            <a:off x="6191556" y="3232680"/>
            <a:ext cx="109440" cy="109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42"/>
          <p:cNvSpPr/>
          <p:nvPr/>
        </p:nvSpPr>
        <p:spPr>
          <a:xfrm>
            <a:off x="6356436" y="3104880"/>
            <a:ext cx="241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Isolation Forest contamination = 5% (matches seeded spike-and-drop rate)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43"/>
          <p:cNvSpPr/>
          <p:nvPr/>
        </p:nvSpPr>
        <p:spPr>
          <a:xfrm>
            <a:off x="6082116" y="3765660"/>
            <a:ext cx="2478125" cy="52992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D1DC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44"/>
          <p:cNvSpPr/>
          <p:nvPr/>
        </p:nvSpPr>
        <p:spPr>
          <a:xfrm>
            <a:off x="6191556" y="3948540"/>
            <a:ext cx="109440" cy="109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45"/>
          <p:cNvSpPr/>
          <p:nvPr/>
        </p:nvSpPr>
        <p:spPr>
          <a:xfrm>
            <a:off x="6356436" y="3820380"/>
            <a:ext cx="2062949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Linear regression for trend direction only — not forecast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402480" y="20124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402480" y="201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★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969120" y="2376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1B3F6B"/>
                </a:solidFill>
                <a:latin typeface="Arial"/>
                <a:ea typeface="Arial"/>
              </a:rPr>
              <a:t>APPENDIX D — Alternatives Considered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548640" y="692944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64748B"/>
                </a:solidFill>
                <a:latin typeface="Arial"/>
                <a:ea typeface="Arial"/>
              </a:rPr>
              <a:t>Four approaches evaluated before arriving at AHI — and why each was set aside.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4"/>
          <p:cNvSpPr/>
          <p:nvPr/>
        </p:nvSpPr>
        <p:spPr>
          <a:xfrm>
            <a:off x="538286" y="1071888"/>
            <a:ext cx="3858480" cy="1635368"/>
          </a:xfrm>
          <a:prstGeom prst="roundRect">
            <a:avLst>
              <a:gd name="adj" fmla="val 4854"/>
            </a:avLst>
          </a:prstGeom>
          <a:solidFill>
            <a:srgbClr val="FEF3C7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5"/>
          <p:cNvSpPr/>
          <p:nvPr/>
        </p:nvSpPr>
        <p:spPr>
          <a:xfrm>
            <a:off x="684446" y="1199688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684446" y="1199688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Arial"/>
              </a:rPr>
              <a:t>×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1160006" y="1199688"/>
            <a:ext cx="3419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D97706"/>
                </a:solidFill>
                <a:latin typeface="Arial"/>
                <a:ea typeface="Arial"/>
              </a:rPr>
              <a:t>ML churn probability score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684446" y="1547088"/>
            <a:ext cx="37123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No labeled training data. CSMs cannot appeal a probability — they can only appeal a dimension score. Comp requires explainability.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9"/>
          <p:cNvSpPr/>
          <p:nvPr/>
        </p:nvSpPr>
        <p:spPr>
          <a:xfrm>
            <a:off x="684446" y="2323467"/>
            <a:ext cx="3566160" cy="360"/>
          </a:xfrm>
          <a:prstGeom prst="line">
            <a:avLst/>
          </a:prstGeom>
          <a:ln w="9525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0"/>
          <p:cNvSpPr/>
          <p:nvPr/>
        </p:nvSpPr>
        <p:spPr>
          <a:xfrm>
            <a:off x="684446" y="2362403"/>
            <a:ext cx="3712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i="1" strike="noStrike" spc="-1" dirty="0">
                <a:solidFill>
                  <a:srgbClr val="D97706"/>
                </a:solidFill>
                <a:latin typeface="Arial"/>
                <a:ea typeface="Arial"/>
              </a:rPr>
              <a:t>Explainability is a product requirement, not a preference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1"/>
          <p:cNvSpPr/>
          <p:nvPr/>
        </p:nvSpPr>
        <p:spPr>
          <a:xfrm>
            <a:off x="4663440" y="1071888"/>
            <a:ext cx="3858480" cy="1635368"/>
          </a:xfrm>
          <a:prstGeom prst="roundRect">
            <a:avLst>
              <a:gd name="adj" fmla="val 4854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2"/>
          <p:cNvSpPr/>
          <p:nvPr/>
        </p:nvSpPr>
        <p:spPr>
          <a:xfrm>
            <a:off x="4809600" y="1199688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13"/>
          <p:cNvSpPr/>
          <p:nvPr/>
        </p:nvSpPr>
        <p:spPr>
          <a:xfrm>
            <a:off x="4809600" y="1199688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Arial"/>
              </a:rPr>
              <a:t>≠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14"/>
          <p:cNvSpPr/>
          <p:nvPr/>
        </p:nvSpPr>
        <p:spPr>
          <a:xfrm>
            <a:off x="5285160" y="1199688"/>
            <a:ext cx="3419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6A34A"/>
                </a:solidFill>
                <a:latin typeface="Arial"/>
                <a:ea typeface="Arial"/>
              </a:rPr>
              <a:t>NPS as the North Star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15"/>
          <p:cNvSpPr/>
          <p:nvPr/>
        </p:nvSpPr>
        <p:spPr>
          <a:xfrm>
            <a:off x="4809600" y="1547088"/>
            <a:ext cx="37123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Arial"/>
                <a:ea typeface="Arial"/>
              </a:rPr>
              <a:t>Lagging, survey-dependent, gameable. Measures sentiment after interaction — not deployment, consumption, or trend toward churn.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6"/>
          <p:cNvSpPr/>
          <p:nvPr/>
        </p:nvSpPr>
        <p:spPr>
          <a:xfrm>
            <a:off x="4809600" y="2323467"/>
            <a:ext cx="3566160" cy="360"/>
          </a:xfrm>
          <a:prstGeom prst="line">
            <a:avLst/>
          </a:prstGeom>
          <a:ln w="9525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17"/>
          <p:cNvSpPr/>
          <p:nvPr/>
        </p:nvSpPr>
        <p:spPr>
          <a:xfrm>
            <a:off x="4809600" y="2362403"/>
            <a:ext cx="3712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i="1" strike="noStrike" spc="-1" dirty="0">
                <a:solidFill>
                  <a:srgbClr val="16A34A"/>
                </a:solidFill>
                <a:latin typeface="Arial"/>
                <a:ea typeface="Arial"/>
              </a:rPr>
              <a:t>Measures how customers feel, not how they behave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18"/>
          <p:cNvSpPr/>
          <p:nvPr/>
        </p:nvSpPr>
        <p:spPr>
          <a:xfrm>
            <a:off x="538286" y="2999160"/>
            <a:ext cx="3858480" cy="1635368"/>
          </a:xfrm>
          <a:prstGeom prst="roundRect">
            <a:avLst>
              <a:gd name="adj" fmla="val 4854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9"/>
          <p:cNvSpPr/>
          <p:nvPr/>
        </p:nvSpPr>
        <p:spPr>
          <a:xfrm>
            <a:off x="684446" y="31273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20"/>
          <p:cNvSpPr/>
          <p:nvPr/>
        </p:nvSpPr>
        <p:spPr>
          <a:xfrm>
            <a:off x="684446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21"/>
          <p:cNvSpPr/>
          <p:nvPr/>
        </p:nvSpPr>
        <p:spPr>
          <a:xfrm>
            <a:off x="1160006" y="3127320"/>
            <a:ext cx="3419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563EB"/>
                </a:solidFill>
                <a:latin typeface="Arial"/>
                <a:ea typeface="Arial"/>
              </a:rPr>
              <a:t>Consumption-only metric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22"/>
          <p:cNvSpPr/>
          <p:nvPr/>
        </p:nvSpPr>
        <p:spPr>
          <a:xfrm>
            <a:off x="684446" y="3474720"/>
            <a:ext cx="37123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Arial"/>
                <a:ea typeface="Arial"/>
              </a:rPr>
              <a:t>Misses shelfware. High ARR + zero deployment looks identical to 110% consumption. Deployment context is essential for any meaningful score.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3"/>
          <p:cNvSpPr/>
          <p:nvPr/>
        </p:nvSpPr>
        <p:spPr>
          <a:xfrm>
            <a:off x="684446" y="4233848"/>
            <a:ext cx="3566160" cy="360"/>
          </a:xfrm>
          <a:prstGeom prst="line">
            <a:avLst/>
          </a:prstGeom>
          <a:ln w="9525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24"/>
          <p:cNvSpPr/>
          <p:nvPr/>
        </p:nvSpPr>
        <p:spPr>
          <a:xfrm>
            <a:off x="684446" y="4272424"/>
            <a:ext cx="3712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i="1" strike="noStrike" spc="-1" dirty="0">
                <a:solidFill>
                  <a:srgbClr val="2563EB"/>
                </a:solidFill>
                <a:latin typeface="Arial"/>
                <a:ea typeface="Arial"/>
              </a:rPr>
              <a:t>Single-signal metrics collapse under portfolio complexity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25"/>
          <p:cNvSpPr/>
          <p:nvPr/>
        </p:nvSpPr>
        <p:spPr>
          <a:xfrm>
            <a:off x="4663440" y="2999160"/>
            <a:ext cx="3858480" cy="1635368"/>
          </a:xfrm>
          <a:prstGeom prst="roundRect">
            <a:avLst>
              <a:gd name="adj" fmla="val 4854"/>
            </a:avLst>
          </a:prstGeom>
          <a:solidFill>
            <a:srgbClr val="E8F0FB"/>
          </a:solidFill>
          <a:ln w="1905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26"/>
          <p:cNvSpPr/>
          <p:nvPr/>
        </p:nvSpPr>
        <p:spPr>
          <a:xfrm>
            <a:off x="4809600" y="31273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27"/>
          <p:cNvSpPr/>
          <p:nvPr/>
        </p:nvSpPr>
        <p:spPr>
          <a:xfrm>
            <a:off x="480960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Arial"/>
              </a:rPr>
              <a:t>≡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8"/>
          <p:cNvSpPr/>
          <p:nvPr/>
        </p:nvSpPr>
        <p:spPr>
          <a:xfrm>
            <a:off x="5285160" y="3127320"/>
            <a:ext cx="3419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F6B"/>
                </a:solidFill>
                <a:latin typeface="Arial"/>
                <a:ea typeface="Arial"/>
              </a:rPr>
              <a:t>Keep TCV + add health scorecard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29"/>
          <p:cNvSpPr/>
          <p:nvPr/>
        </p:nvSpPr>
        <p:spPr>
          <a:xfrm>
            <a:off x="4809600" y="3474720"/>
            <a:ext cx="37123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Arial"/>
                <a:ea typeface="Arial"/>
              </a:rPr>
              <a:t>Two metrics in conflict produce split incentives. CSMs optimise for the one that affects comp. Parallel metrics deepen misalignment.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30"/>
          <p:cNvSpPr/>
          <p:nvPr/>
        </p:nvSpPr>
        <p:spPr>
          <a:xfrm>
            <a:off x="4809600" y="4233848"/>
            <a:ext cx="3566160" cy="360"/>
          </a:xfrm>
          <a:prstGeom prst="line">
            <a:avLst/>
          </a:prstGeom>
          <a:ln w="9525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31"/>
          <p:cNvSpPr/>
          <p:nvPr/>
        </p:nvSpPr>
        <p:spPr>
          <a:xfrm>
            <a:off x="4809600" y="4272424"/>
            <a:ext cx="3712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i="1" strike="noStrike" spc="-1" dirty="0">
                <a:solidFill>
                  <a:srgbClr val="1B3F6B"/>
                </a:solidFill>
                <a:latin typeface="Arial"/>
                <a:ea typeface="Arial"/>
              </a:rPr>
              <a:t>One North Star. Not two dashboards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0"/>
          <p:cNvSpPr/>
          <p:nvPr/>
        </p:nvSpPr>
        <p:spPr>
          <a:xfrm>
            <a:off x="402480" y="20124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"/>
          <p:cNvSpPr/>
          <p:nvPr/>
        </p:nvSpPr>
        <p:spPr>
          <a:xfrm>
            <a:off x="402480" y="201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Arial"/>
              </a:rPr>
              <a:t>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"/>
          <p:cNvSpPr/>
          <p:nvPr/>
        </p:nvSpPr>
        <p:spPr>
          <a:xfrm>
            <a:off x="969120" y="2376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1B3F6B"/>
                </a:solidFill>
                <a:latin typeface="Arial"/>
                <a:ea typeface="Arial"/>
              </a:rPr>
              <a:t>APPENDIX C — End-to-End Architecture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3"/>
          <p:cNvSpPr/>
          <p:nvPr/>
        </p:nvSpPr>
        <p:spPr>
          <a:xfrm>
            <a:off x="548640" y="6584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Arial"/>
                <a:ea typeface="Arial"/>
              </a:rPr>
              <a:t>Source tables → BigQuery pipeline → output tables → dashboard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365760" y="89604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563EB"/>
                </a:solidFill>
                <a:latin typeface="Arial"/>
                <a:ea typeface="Arial"/>
              </a:rPr>
              <a:t>Source Tables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5"/>
          <p:cNvSpPr/>
          <p:nvPr/>
        </p:nvSpPr>
        <p:spPr>
          <a:xfrm>
            <a:off x="320040" y="1170360"/>
            <a:ext cx="1462680" cy="65808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6"/>
          <p:cNvSpPr/>
          <p:nvPr/>
        </p:nvSpPr>
        <p:spPr>
          <a:xfrm>
            <a:off x="374760" y="122544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374760" y="1225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  <a:ea typeface="Arial"/>
              </a:rPr>
              <a:t>≡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740520" y="1225440"/>
            <a:ext cx="987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1B3F6B"/>
                </a:solidFill>
                <a:latin typeface="Courier New"/>
                <a:ea typeface="Courier New"/>
              </a:rPr>
              <a:t>CSM_rep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9"/>
          <p:cNvSpPr/>
          <p:nvPr/>
        </p:nvSpPr>
        <p:spPr>
          <a:xfrm>
            <a:off x="740520" y="1408320"/>
            <a:ext cx="98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50 rows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0"/>
          <p:cNvSpPr/>
          <p:nvPr/>
        </p:nvSpPr>
        <p:spPr>
          <a:xfrm>
            <a:off x="1801080" y="1499400"/>
            <a:ext cx="146520" cy="36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1"/>
          <p:cNvSpPr/>
          <p:nvPr/>
        </p:nvSpPr>
        <p:spPr>
          <a:xfrm>
            <a:off x="1947600" y="1444680"/>
            <a:ext cx="91440" cy="5472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2"/>
          <p:cNvSpPr/>
          <p:nvPr/>
        </p:nvSpPr>
        <p:spPr>
          <a:xfrm flipV="1">
            <a:off x="1947600" y="1499400"/>
            <a:ext cx="91440" cy="5508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3"/>
          <p:cNvSpPr/>
          <p:nvPr/>
        </p:nvSpPr>
        <p:spPr>
          <a:xfrm>
            <a:off x="2020680" y="1170360"/>
            <a:ext cx="1462680" cy="65808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4"/>
          <p:cNvSpPr/>
          <p:nvPr/>
        </p:nvSpPr>
        <p:spPr>
          <a:xfrm>
            <a:off x="2075760" y="122544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15"/>
          <p:cNvSpPr/>
          <p:nvPr/>
        </p:nvSpPr>
        <p:spPr>
          <a:xfrm>
            <a:off x="2075760" y="1225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  <a:ea typeface="Arial"/>
              </a:rPr>
              <a:t>○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6"/>
          <p:cNvSpPr/>
          <p:nvPr/>
        </p:nvSpPr>
        <p:spPr>
          <a:xfrm>
            <a:off x="2441520" y="1225440"/>
            <a:ext cx="987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1B3F6B"/>
                </a:solidFill>
                <a:latin typeface="Courier New"/>
                <a:ea typeface="Courier New"/>
              </a:rPr>
              <a:t>Accounts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7"/>
          <p:cNvSpPr/>
          <p:nvPr/>
        </p:nvSpPr>
        <p:spPr>
          <a:xfrm>
            <a:off x="2441520" y="1408320"/>
            <a:ext cx="98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1,000 rows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8"/>
          <p:cNvSpPr/>
          <p:nvPr/>
        </p:nvSpPr>
        <p:spPr>
          <a:xfrm>
            <a:off x="3502080" y="1499400"/>
            <a:ext cx="146160" cy="36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9"/>
          <p:cNvSpPr/>
          <p:nvPr/>
        </p:nvSpPr>
        <p:spPr>
          <a:xfrm>
            <a:off x="3648240" y="1444680"/>
            <a:ext cx="91440" cy="5472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20"/>
          <p:cNvSpPr/>
          <p:nvPr/>
        </p:nvSpPr>
        <p:spPr>
          <a:xfrm flipV="1">
            <a:off x="3648240" y="1499400"/>
            <a:ext cx="91440" cy="5508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1"/>
          <p:cNvSpPr/>
          <p:nvPr/>
        </p:nvSpPr>
        <p:spPr>
          <a:xfrm>
            <a:off x="3721680" y="1170360"/>
            <a:ext cx="1462680" cy="65808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2"/>
          <p:cNvSpPr/>
          <p:nvPr/>
        </p:nvSpPr>
        <p:spPr>
          <a:xfrm>
            <a:off x="3776400" y="122544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23"/>
          <p:cNvSpPr/>
          <p:nvPr/>
        </p:nvSpPr>
        <p:spPr>
          <a:xfrm>
            <a:off x="3776400" y="1225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  <a:ea typeface="Arial"/>
              </a:rPr>
              <a:t>□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24"/>
          <p:cNvSpPr/>
          <p:nvPr/>
        </p:nvSpPr>
        <p:spPr>
          <a:xfrm>
            <a:off x="4142160" y="1225440"/>
            <a:ext cx="987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1B3F6B"/>
                </a:solidFill>
                <a:latin typeface="Courier New"/>
                <a:ea typeface="Courier New"/>
              </a:rPr>
              <a:t>Contracts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25"/>
          <p:cNvSpPr/>
          <p:nvPr/>
        </p:nvSpPr>
        <p:spPr>
          <a:xfrm>
            <a:off x="4142160" y="1408320"/>
            <a:ext cx="98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1,200 rows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6"/>
          <p:cNvSpPr/>
          <p:nvPr/>
        </p:nvSpPr>
        <p:spPr>
          <a:xfrm>
            <a:off x="5202720" y="1499400"/>
            <a:ext cx="146520" cy="36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7"/>
          <p:cNvSpPr/>
          <p:nvPr/>
        </p:nvSpPr>
        <p:spPr>
          <a:xfrm>
            <a:off x="5349240" y="1444680"/>
            <a:ext cx="91440" cy="5472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8"/>
          <p:cNvSpPr/>
          <p:nvPr/>
        </p:nvSpPr>
        <p:spPr>
          <a:xfrm flipV="1">
            <a:off x="5349240" y="1499400"/>
            <a:ext cx="91440" cy="5508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9"/>
          <p:cNvSpPr/>
          <p:nvPr/>
        </p:nvSpPr>
        <p:spPr>
          <a:xfrm>
            <a:off x="5422320" y="1170360"/>
            <a:ext cx="1462680" cy="65808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30"/>
          <p:cNvSpPr/>
          <p:nvPr/>
        </p:nvSpPr>
        <p:spPr>
          <a:xfrm>
            <a:off x="5477400" y="122544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31"/>
          <p:cNvSpPr/>
          <p:nvPr/>
        </p:nvSpPr>
        <p:spPr>
          <a:xfrm>
            <a:off x="5477400" y="1225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  <a:ea typeface="Arial"/>
              </a:rPr>
              <a:t>✓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32"/>
          <p:cNvSpPr/>
          <p:nvPr/>
        </p:nvSpPr>
        <p:spPr>
          <a:xfrm>
            <a:off x="5843160" y="1225440"/>
            <a:ext cx="987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1B3F6B"/>
                </a:solidFill>
                <a:latin typeface="Courier New"/>
                <a:ea typeface="Courier New"/>
              </a:rPr>
              <a:t>Acct_Health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33"/>
          <p:cNvSpPr/>
          <p:nvPr/>
        </p:nvSpPr>
        <p:spPr>
          <a:xfrm>
            <a:off x="5843160" y="1408320"/>
            <a:ext cx="98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50,000 rows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34"/>
          <p:cNvSpPr/>
          <p:nvPr/>
        </p:nvSpPr>
        <p:spPr>
          <a:xfrm>
            <a:off x="6903720" y="1499400"/>
            <a:ext cx="146160" cy="36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5"/>
          <p:cNvSpPr/>
          <p:nvPr/>
        </p:nvSpPr>
        <p:spPr>
          <a:xfrm>
            <a:off x="7049880" y="1444680"/>
            <a:ext cx="91440" cy="5472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36"/>
          <p:cNvSpPr/>
          <p:nvPr/>
        </p:nvSpPr>
        <p:spPr>
          <a:xfrm flipV="1">
            <a:off x="7049880" y="1499400"/>
            <a:ext cx="91440" cy="5508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37"/>
          <p:cNvSpPr/>
          <p:nvPr/>
        </p:nvSpPr>
        <p:spPr>
          <a:xfrm>
            <a:off x="7123320" y="1170360"/>
            <a:ext cx="1462680" cy="65808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8"/>
          <p:cNvSpPr/>
          <p:nvPr/>
        </p:nvSpPr>
        <p:spPr>
          <a:xfrm>
            <a:off x="7178040" y="122544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39"/>
          <p:cNvSpPr/>
          <p:nvPr/>
        </p:nvSpPr>
        <p:spPr>
          <a:xfrm>
            <a:off x="7178040" y="1225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  <a:ea typeface="Arial"/>
              </a:rPr>
              <a:t>▲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40"/>
          <p:cNvSpPr/>
          <p:nvPr/>
        </p:nvSpPr>
        <p:spPr>
          <a:xfrm>
            <a:off x="7543800" y="1225440"/>
            <a:ext cx="987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1B3F6B"/>
                </a:solidFill>
                <a:latin typeface="Courier New"/>
                <a:ea typeface="Courier New"/>
              </a:rPr>
              <a:t>Daily_Usage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41"/>
          <p:cNvSpPr/>
          <p:nvPr/>
        </p:nvSpPr>
        <p:spPr>
          <a:xfrm>
            <a:off x="7543800" y="1408320"/>
            <a:ext cx="98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214,000 rows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42"/>
          <p:cNvSpPr/>
          <p:nvPr/>
        </p:nvSpPr>
        <p:spPr>
          <a:xfrm>
            <a:off x="4370760" y="1846800"/>
            <a:ext cx="360" cy="21960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43"/>
          <p:cNvSpPr/>
          <p:nvPr/>
        </p:nvSpPr>
        <p:spPr>
          <a:xfrm>
            <a:off x="4297680" y="1993320"/>
            <a:ext cx="73080" cy="7308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44"/>
          <p:cNvSpPr/>
          <p:nvPr/>
        </p:nvSpPr>
        <p:spPr>
          <a:xfrm flipV="1">
            <a:off x="4370760" y="1993320"/>
            <a:ext cx="73080" cy="7308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45"/>
          <p:cNvSpPr/>
          <p:nvPr/>
        </p:nvSpPr>
        <p:spPr>
          <a:xfrm>
            <a:off x="365760" y="224928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B3F6B"/>
                </a:solidFill>
                <a:latin typeface="Arial"/>
                <a:ea typeface="Arial"/>
              </a:rPr>
              <a:t>6-step BigQuery SQL Pipeline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46"/>
          <p:cNvSpPr/>
          <p:nvPr/>
        </p:nvSpPr>
        <p:spPr>
          <a:xfrm>
            <a:off x="320040" y="2523600"/>
            <a:ext cx="2541600" cy="5482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47"/>
          <p:cNvSpPr/>
          <p:nvPr/>
        </p:nvSpPr>
        <p:spPr>
          <a:xfrm>
            <a:off x="411480" y="2670120"/>
            <a:ext cx="255600" cy="2556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48"/>
          <p:cNvSpPr/>
          <p:nvPr/>
        </p:nvSpPr>
        <p:spPr>
          <a:xfrm>
            <a:off x="411480" y="26701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49"/>
          <p:cNvSpPr/>
          <p:nvPr/>
        </p:nvSpPr>
        <p:spPr>
          <a:xfrm>
            <a:off x="740520" y="257868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1D4ED8"/>
                </a:solidFill>
                <a:latin typeface="Courier New"/>
                <a:ea typeface="Courier New"/>
              </a:rPr>
              <a:t>stg_active_contracts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50"/>
          <p:cNvSpPr/>
          <p:nvPr/>
        </p:nvSpPr>
        <p:spPr>
          <a:xfrm>
            <a:off x="740520" y="279792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Active window per account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51"/>
          <p:cNvSpPr/>
          <p:nvPr/>
        </p:nvSpPr>
        <p:spPr>
          <a:xfrm>
            <a:off x="2889360" y="2797920"/>
            <a:ext cx="146160" cy="36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52"/>
          <p:cNvSpPr/>
          <p:nvPr/>
        </p:nvSpPr>
        <p:spPr>
          <a:xfrm>
            <a:off x="3035520" y="2743200"/>
            <a:ext cx="91440" cy="5472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53"/>
          <p:cNvSpPr/>
          <p:nvPr/>
        </p:nvSpPr>
        <p:spPr>
          <a:xfrm flipV="1">
            <a:off x="3035520" y="2797920"/>
            <a:ext cx="91440" cy="5472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54"/>
          <p:cNvSpPr/>
          <p:nvPr/>
        </p:nvSpPr>
        <p:spPr>
          <a:xfrm>
            <a:off x="3099960" y="2523600"/>
            <a:ext cx="2541600" cy="5482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55"/>
          <p:cNvSpPr/>
          <p:nvPr/>
        </p:nvSpPr>
        <p:spPr>
          <a:xfrm>
            <a:off x="3191400" y="2670120"/>
            <a:ext cx="255600" cy="255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56"/>
          <p:cNvSpPr/>
          <p:nvPr/>
        </p:nvSpPr>
        <p:spPr>
          <a:xfrm>
            <a:off x="3191400" y="26701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57"/>
          <p:cNvSpPr/>
          <p:nvPr/>
        </p:nvSpPr>
        <p:spPr>
          <a:xfrm>
            <a:off x="3520440" y="257868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0F766E"/>
                </a:solidFill>
                <a:latin typeface="Courier New"/>
                <a:ea typeface="Courier New"/>
              </a:rPr>
              <a:t>stg_monthly_consumption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58"/>
          <p:cNvSpPr/>
          <p:nvPr/>
        </p:nvSpPr>
        <p:spPr>
          <a:xfrm>
            <a:off x="3520440" y="279792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Credits vs committed per month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59"/>
          <p:cNvSpPr/>
          <p:nvPr/>
        </p:nvSpPr>
        <p:spPr>
          <a:xfrm>
            <a:off x="5669280" y="2797920"/>
            <a:ext cx="146160" cy="36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60"/>
          <p:cNvSpPr/>
          <p:nvPr/>
        </p:nvSpPr>
        <p:spPr>
          <a:xfrm>
            <a:off x="5815440" y="2743200"/>
            <a:ext cx="91440" cy="5472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61"/>
          <p:cNvSpPr/>
          <p:nvPr/>
        </p:nvSpPr>
        <p:spPr>
          <a:xfrm flipV="1">
            <a:off x="5815440" y="2797920"/>
            <a:ext cx="91440" cy="5472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62"/>
          <p:cNvSpPr/>
          <p:nvPr/>
        </p:nvSpPr>
        <p:spPr>
          <a:xfrm>
            <a:off x="5879520" y="2523600"/>
            <a:ext cx="2541600" cy="5482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63"/>
          <p:cNvSpPr/>
          <p:nvPr/>
        </p:nvSpPr>
        <p:spPr>
          <a:xfrm>
            <a:off x="5970960" y="2670120"/>
            <a:ext cx="255600" cy="255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64"/>
          <p:cNvSpPr/>
          <p:nvPr/>
        </p:nvSpPr>
        <p:spPr>
          <a:xfrm>
            <a:off x="5970960" y="26701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65"/>
          <p:cNvSpPr/>
          <p:nvPr/>
        </p:nvSpPr>
        <p:spPr>
          <a:xfrm>
            <a:off x="6300360" y="257868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7C3AED"/>
                </a:solidFill>
                <a:latin typeface="Courier New"/>
                <a:ea typeface="Courier New"/>
              </a:rPr>
              <a:t>stg_engagement_trend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66"/>
          <p:cNvSpPr/>
          <p:nvPr/>
        </p:nvSpPr>
        <p:spPr>
          <a:xfrm>
            <a:off x="6300360" y="279792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12-month linear regression + IF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67"/>
          <p:cNvSpPr/>
          <p:nvPr/>
        </p:nvSpPr>
        <p:spPr>
          <a:xfrm>
            <a:off x="4370760" y="3090600"/>
            <a:ext cx="360" cy="20124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68"/>
          <p:cNvSpPr/>
          <p:nvPr/>
        </p:nvSpPr>
        <p:spPr>
          <a:xfrm>
            <a:off x="4297680" y="3218400"/>
            <a:ext cx="73080" cy="7344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440" rIns="90000" bIns="284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69"/>
          <p:cNvSpPr/>
          <p:nvPr/>
        </p:nvSpPr>
        <p:spPr>
          <a:xfrm flipV="1">
            <a:off x="4370760" y="3218400"/>
            <a:ext cx="73080" cy="7344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440" rIns="90000" bIns="284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70"/>
          <p:cNvSpPr/>
          <p:nvPr/>
        </p:nvSpPr>
        <p:spPr>
          <a:xfrm>
            <a:off x="320040" y="3328560"/>
            <a:ext cx="2541600" cy="54828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71"/>
          <p:cNvSpPr/>
          <p:nvPr/>
        </p:nvSpPr>
        <p:spPr>
          <a:xfrm>
            <a:off x="411480" y="3474720"/>
            <a:ext cx="255600" cy="255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72"/>
          <p:cNvSpPr/>
          <p:nvPr/>
        </p:nvSpPr>
        <p:spPr>
          <a:xfrm>
            <a:off x="411480" y="34747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73"/>
          <p:cNvSpPr/>
          <p:nvPr/>
        </p:nvSpPr>
        <p:spPr>
          <a:xfrm>
            <a:off x="740520" y="338328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dim_account_ahi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74"/>
          <p:cNvSpPr/>
          <p:nvPr/>
        </p:nvSpPr>
        <p:spPr>
          <a:xfrm>
            <a:off x="740520" y="360288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5 dimensions → AHI score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75"/>
          <p:cNvSpPr/>
          <p:nvPr/>
        </p:nvSpPr>
        <p:spPr>
          <a:xfrm>
            <a:off x="2889360" y="3602520"/>
            <a:ext cx="146160" cy="360"/>
          </a:xfrm>
          <a:prstGeom prst="line">
            <a:avLst/>
          </a:prstGeom>
          <a:ln w="254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76"/>
          <p:cNvSpPr/>
          <p:nvPr/>
        </p:nvSpPr>
        <p:spPr>
          <a:xfrm>
            <a:off x="3035520" y="3547800"/>
            <a:ext cx="91440" cy="54720"/>
          </a:xfrm>
          <a:prstGeom prst="line">
            <a:avLst/>
          </a:prstGeom>
          <a:ln w="254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77"/>
          <p:cNvSpPr/>
          <p:nvPr/>
        </p:nvSpPr>
        <p:spPr>
          <a:xfrm flipV="1">
            <a:off x="3035520" y="3602520"/>
            <a:ext cx="91440" cy="55080"/>
          </a:xfrm>
          <a:prstGeom prst="line">
            <a:avLst/>
          </a:prstGeom>
          <a:ln w="254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78"/>
          <p:cNvSpPr/>
          <p:nvPr/>
        </p:nvSpPr>
        <p:spPr>
          <a:xfrm>
            <a:off x="3099960" y="3328560"/>
            <a:ext cx="2541600" cy="54828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79"/>
          <p:cNvSpPr/>
          <p:nvPr/>
        </p:nvSpPr>
        <p:spPr>
          <a:xfrm>
            <a:off x="3191400" y="3474720"/>
            <a:ext cx="255600" cy="255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80"/>
          <p:cNvSpPr/>
          <p:nvPr/>
        </p:nvSpPr>
        <p:spPr>
          <a:xfrm>
            <a:off x="3191400" y="34747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81"/>
          <p:cNvSpPr/>
          <p:nvPr/>
        </p:nvSpPr>
        <p:spPr>
          <a:xfrm>
            <a:off x="3520440" y="338328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account_ahi_monthly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82"/>
          <p:cNvSpPr/>
          <p:nvPr/>
        </p:nvSpPr>
        <p:spPr>
          <a:xfrm>
            <a:off x="3520440" y="360288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12,000 rows · 1,000 accts × 12mo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83"/>
          <p:cNvSpPr/>
          <p:nvPr/>
        </p:nvSpPr>
        <p:spPr>
          <a:xfrm>
            <a:off x="5669280" y="3602520"/>
            <a:ext cx="146160" cy="360"/>
          </a:xfrm>
          <a:prstGeom prst="line">
            <a:avLst/>
          </a:prstGeom>
          <a:ln w="254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84"/>
          <p:cNvSpPr/>
          <p:nvPr/>
        </p:nvSpPr>
        <p:spPr>
          <a:xfrm>
            <a:off x="5815440" y="3547800"/>
            <a:ext cx="91440" cy="54720"/>
          </a:xfrm>
          <a:prstGeom prst="line">
            <a:avLst/>
          </a:prstGeom>
          <a:ln w="254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85"/>
          <p:cNvSpPr/>
          <p:nvPr/>
        </p:nvSpPr>
        <p:spPr>
          <a:xfrm flipV="1">
            <a:off x="5815440" y="3602520"/>
            <a:ext cx="91440" cy="55080"/>
          </a:xfrm>
          <a:prstGeom prst="line">
            <a:avLst/>
          </a:prstGeom>
          <a:ln w="254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86"/>
          <p:cNvSpPr/>
          <p:nvPr/>
        </p:nvSpPr>
        <p:spPr>
          <a:xfrm>
            <a:off x="5879520" y="3328560"/>
            <a:ext cx="2541600" cy="54828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87"/>
          <p:cNvSpPr/>
          <p:nvPr/>
        </p:nvSpPr>
        <p:spPr>
          <a:xfrm>
            <a:off x="5970960" y="3474720"/>
            <a:ext cx="255600" cy="255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88"/>
          <p:cNvSpPr/>
          <p:nvPr/>
        </p:nvSpPr>
        <p:spPr>
          <a:xfrm>
            <a:off x="5970960" y="34747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89"/>
          <p:cNvSpPr/>
          <p:nvPr/>
        </p:nvSpPr>
        <p:spPr>
          <a:xfrm>
            <a:off x="6300360" y="338328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csm_ahi_monthly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90"/>
          <p:cNvSpPr/>
          <p:nvPr/>
        </p:nvSpPr>
        <p:spPr>
          <a:xfrm>
            <a:off x="6300360" y="360288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64748B"/>
                </a:solidFill>
                <a:latin typeface="Arial"/>
                <a:ea typeface="Arial"/>
              </a:rPr>
              <a:t>600 rows · 50 CSMs × 12mo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91"/>
          <p:cNvSpPr/>
          <p:nvPr/>
        </p:nvSpPr>
        <p:spPr>
          <a:xfrm>
            <a:off x="4370760" y="3895200"/>
            <a:ext cx="360" cy="20124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92"/>
          <p:cNvSpPr/>
          <p:nvPr/>
        </p:nvSpPr>
        <p:spPr>
          <a:xfrm>
            <a:off x="4297680" y="4023360"/>
            <a:ext cx="73080" cy="7308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93"/>
          <p:cNvSpPr/>
          <p:nvPr/>
        </p:nvSpPr>
        <p:spPr>
          <a:xfrm flipV="1">
            <a:off x="4370760" y="4023360"/>
            <a:ext cx="73080" cy="7308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94"/>
          <p:cNvSpPr/>
          <p:nvPr/>
        </p:nvSpPr>
        <p:spPr>
          <a:xfrm>
            <a:off x="365760" y="415152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B3F6B"/>
                </a:solidFill>
                <a:latin typeface="Arial"/>
                <a:ea typeface="Arial"/>
              </a:rPr>
              <a:t>Dashboard Flow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95"/>
          <p:cNvSpPr/>
          <p:nvPr/>
        </p:nvSpPr>
        <p:spPr>
          <a:xfrm>
            <a:off x="320040" y="4370760"/>
            <a:ext cx="1901520" cy="65808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96"/>
          <p:cNvSpPr/>
          <p:nvPr/>
        </p:nvSpPr>
        <p:spPr>
          <a:xfrm>
            <a:off x="393120" y="44438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□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97"/>
          <p:cNvSpPr/>
          <p:nvPr/>
        </p:nvSpPr>
        <p:spPr>
          <a:xfrm>
            <a:off x="777240" y="442584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Arial"/>
                <a:ea typeface="Arial"/>
              </a:rPr>
              <a:t>Chrome / dashboard.html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98"/>
          <p:cNvSpPr/>
          <p:nvPr/>
        </p:nvSpPr>
        <p:spPr>
          <a:xfrm>
            <a:off x="2240280" y="4699800"/>
            <a:ext cx="127800" cy="36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99"/>
          <p:cNvSpPr/>
          <p:nvPr/>
        </p:nvSpPr>
        <p:spPr>
          <a:xfrm>
            <a:off x="2368080" y="4645080"/>
            <a:ext cx="73080" cy="5472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00"/>
          <p:cNvSpPr/>
          <p:nvPr/>
        </p:nvSpPr>
        <p:spPr>
          <a:xfrm flipV="1">
            <a:off x="2368080" y="4699800"/>
            <a:ext cx="73080" cy="5508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01"/>
          <p:cNvSpPr/>
          <p:nvPr/>
        </p:nvSpPr>
        <p:spPr>
          <a:xfrm>
            <a:off x="2423160" y="4370760"/>
            <a:ext cx="1901520" cy="65808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102"/>
          <p:cNvSpPr/>
          <p:nvPr/>
        </p:nvSpPr>
        <p:spPr>
          <a:xfrm>
            <a:off x="2496240" y="44438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≡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103"/>
          <p:cNvSpPr/>
          <p:nvPr/>
        </p:nvSpPr>
        <p:spPr>
          <a:xfrm>
            <a:off x="2880360" y="442584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Arial"/>
                <a:ea typeface="Arial"/>
              </a:rPr>
              <a:t>Node.js proxy :3001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04"/>
          <p:cNvSpPr/>
          <p:nvPr/>
        </p:nvSpPr>
        <p:spPr>
          <a:xfrm>
            <a:off x="4343400" y="4699800"/>
            <a:ext cx="127800" cy="36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105"/>
          <p:cNvSpPr/>
          <p:nvPr/>
        </p:nvSpPr>
        <p:spPr>
          <a:xfrm>
            <a:off x="4471200" y="4645080"/>
            <a:ext cx="73080" cy="5472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06"/>
          <p:cNvSpPr/>
          <p:nvPr/>
        </p:nvSpPr>
        <p:spPr>
          <a:xfrm flipV="1">
            <a:off x="4471200" y="4699800"/>
            <a:ext cx="73080" cy="5508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07"/>
          <p:cNvSpPr/>
          <p:nvPr/>
        </p:nvSpPr>
        <p:spPr>
          <a:xfrm>
            <a:off x="4526280" y="4370760"/>
            <a:ext cx="1901520" cy="658080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108"/>
          <p:cNvSpPr/>
          <p:nvPr/>
        </p:nvSpPr>
        <p:spPr>
          <a:xfrm>
            <a:off x="4599360" y="44438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☁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109"/>
          <p:cNvSpPr/>
          <p:nvPr/>
        </p:nvSpPr>
        <p:spPr>
          <a:xfrm>
            <a:off x="4983480" y="442584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Arial"/>
                <a:ea typeface="Arial"/>
              </a:rPr>
              <a:t>BigQuery pan-ahi-casestudy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110"/>
          <p:cNvSpPr/>
          <p:nvPr/>
        </p:nvSpPr>
        <p:spPr>
          <a:xfrm>
            <a:off x="6446520" y="4699800"/>
            <a:ext cx="127800" cy="36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111"/>
          <p:cNvSpPr/>
          <p:nvPr/>
        </p:nvSpPr>
        <p:spPr>
          <a:xfrm>
            <a:off x="6574320" y="4645080"/>
            <a:ext cx="73080" cy="5472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12"/>
          <p:cNvSpPr/>
          <p:nvPr/>
        </p:nvSpPr>
        <p:spPr>
          <a:xfrm flipV="1">
            <a:off x="6574320" y="4699800"/>
            <a:ext cx="73080" cy="5508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13"/>
          <p:cNvSpPr/>
          <p:nvPr/>
        </p:nvSpPr>
        <p:spPr>
          <a:xfrm>
            <a:off x="6629400" y="4370760"/>
            <a:ext cx="1901520" cy="65808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114"/>
          <p:cNvSpPr/>
          <p:nvPr/>
        </p:nvSpPr>
        <p:spPr>
          <a:xfrm>
            <a:off x="6702480" y="44438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▦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115"/>
          <p:cNvSpPr/>
          <p:nvPr/>
        </p:nvSpPr>
        <p:spPr>
          <a:xfrm>
            <a:off x="7086600" y="442584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Arial"/>
                <a:ea typeface="Arial"/>
              </a:rPr>
              <a:t>Output tables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116"/>
          <p:cNvSpPr/>
          <p:nvPr/>
        </p:nvSpPr>
        <p:spPr>
          <a:xfrm>
            <a:off x="365760" y="5102280"/>
            <a:ext cx="8412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64748B"/>
                </a:solidFill>
                <a:latin typeface="Arial"/>
                <a:ea typeface="Arial"/>
              </a:rPr>
              <a:t>Live BigQuery queries — not hardcoded. Credentials server-side, never in browser.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0"/>
          <p:cNvSpPr/>
          <p:nvPr/>
        </p:nvSpPr>
        <p:spPr>
          <a:xfrm>
            <a:off x="402480" y="20124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1"/>
          <p:cNvSpPr/>
          <p:nvPr/>
        </p:nvSpPr>
        <p:spPr>
          <a:xfrm>
            <a:off x="402480" y="201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✓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2"/>
          <p:cNvSpPr/>
          <p:nvPr/>
        </p:nvSpPr>
        <p:spPr>
          <a:xfrm>
            <a:off x="969120" y="2376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1B3F6B"/>
                </a:solidFill>
                <a:latin typeface="Arial"/>
                <a:ea typeface="Arial"/>
              </a:rPr>
              <a:t>APPENDIX A — Data Quality Gates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3"/>
          <p:cNvSpPr/>
          <p:nvPr/>
        </p:nvSpPr>
        <p:spPr>
          <a:xfrm>
            <a:off x="548640" y="6584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Arial"/>
                <a:ea typeface="Arial"/>
              </a:rPr>
              <a:t>6 automated SQL assertions before every pipeline run. Any failure halts the pipeline.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4"/>
          <p:cNvSpPr/>
          <p:nvPr/>
        </p:nvSpPr>
        <p:spPr>
          <a:xfrm>
            <a:off x="960981" y="951120"/>
            <a:ext cx="7324576" cy="54828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9525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5"/>
          <p:cNvSpPr/>
          <p:nvPr/>
        </p:nvSpPr>
        <p:spPr>
          <a:xfrm>
            <a:off x="1052421" y="1088280"/>
            <a:ext cx="511560" cy="21924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6"/>
          <p:cNvSpPr/>
          <p:nvPr/>
        </p:nvSpPr>
        <p:spPr>
          <a:xfrm>
            <a:off x="1052421" y="10882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FLAG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7"/>
          <p:cNvSpPr/>
          <p:nvPr/>
        </p:nvSpPr>
        <p:spPr>
          <a:xfrm>
            <a:off x="1655781" y="101484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Orphaned Usage Check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8"/>
          <p:cNvSpPr/>
          <p:nvPr/>
        </p:nvSpPr>
        <p:spPr>
          <a:xfrm>
            <a:off x="5890117" y="1014840"/>
            <a:ext cx="2395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D97706"/>
                </a:solidFill>
                <a:latin typeface="Arial"/>
                <a:ea typeface="Arial"/>
              </a:rPr>
              <a:t>150 seeded rows caught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9"/>
          <p:cNvSpPr/>
          <p:nvPr/>
        </p:nvSpPr>
        <p:spPr>
          <a:xfrm>
            <a:off x="1655781" y="1261800"/>
            <a:ext cx="7452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4748B"/>
                </a:solidFill>
                <a:latin typeface="Arial"/>
                <a:ea typeface="Arial"/>
              </a:rPr>
              <a:t>Usage logs with no matching account_id. Caught 150 seeded GHOST_ accounts.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10"/>
          <p:cNvSpPr/>
          <p:nvPr/>
        </p:nvSpPr>
        <p:spPr>
          <a:xfrm>
            <a:off x="960981" y="1591200"/>
            <a:ext cx="7324576" cy="54828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11"/>
          <p:cNvSpPr/>
          <p:nvPr/>
        </p:nvSpPr>
        <p:spPr>
          <a:xfrm>
            <a:off x="1052421" y="1728360"/>
            <a:ext cx="511560" cy="21924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12"/>
          <p:cNvSpPr/>
          <p:nvPr/>
        </p:nvSpPr>
        <p:spPr>
          <a:xfrm>
            <a:off x="1052421" y="172836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PASS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13"/>
          <p:cNvSpPr/>
          <p:nvPr/>
        </p:nvSpPr>
        <p:spPr>
          <a:xfrm>
            <a:off x="1655781" y="16549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Overlapping Contracts Check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14"/>
          <p:cNvSpPr/>
          <p:nvPr/>
        </p:nvSpPr>
        <p:spPr>
          <a:xfrm>
            <a:off x="5890117" y="1654920"/>
            <a:ext cx="2395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0 rows — clean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15"/>
          <p:cNvSpPr/>
          <p:nvPr/>
        </p:nvSpPr>
        <p:spPr>
          <a:xfrm>
            <a:off x="1655781" y="1901880"/>
            <a:ext cx="7452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4748B"/>
                </a:solidFill>
                <a:latin typeface="Arial"/>
                <a:ea typeface="Arial"/>
              </a:rPr>
              <a:t>Multiple active contracts where the second is not a legitimate expansion. All 40 mid-year overlaps verified.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16"/>
          <p:cNvSpPr/>
          <p:nvPr/>
        </p:nvSpPr>
        <p:spPr>
          <a:xfrm>
            <a:off x="960981" y="2231280"/>
            <a:ext cx="7324576" cy="54828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17"/>
          <p:cNvSpPr/>
          <p:nvPr/>
        </p:nvSpPr>
        <p:spPr>
          <a:xfrm>
            <a:off x="1052421" y="2368440"/>
            <a:ext cx="511560" cy="21924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18"/>
          <p:cNvSpPr/>
          <p:nvPr/>
        </p:nvSpPr>
        <p:spPr>
          <a:xfrm>
            <a:off x="1052421" y="236844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PASS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19"/>
          <p:cNvSpPr/>
          <p:nvPr/>
        </p:nvSpPr>
        <p:spPr>
          <a:xfrm>
            <a:off x="1655781" y="22950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Negative Consumption Check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20"/>
          <p:cNvSpPr/>
          <p:nvPr/>
        </p:nvSpPr>
        <p:spPr>
          <a:xfrm>
            <a:off x="5890117" y="2295000"/>
            <a:ext cx="2395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0 rows — clean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21"/>
          <p:cNvSpPr/>
          <p:nvPr/>
        </p:nvSpPr>
        <p:spPr>
          <a:xfrm>
            <a:off x="1655781" y="2541960"/>
            <a:ext cx="7452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4748B"/>
                </a:solidFill>
                <a:latin typeface="Arial"/>
                <a:ea typeface="Arial"/>
              </a:rPr>
              <a:t>Negative compute credit values — physically impossible, indicates data entry error.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22"/>
          <p:cNvSpPr/>
          <p:nvPr/>
        </p:nvSpPr>
        <p:spPr>
          <a:xfrm>
            <a:off x="960981" y="2871360"/>
            <a:ext cx="7324576" cy="54828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9525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23"/>
          <p:cNvSpPr/>
          <p:nvPr/>
        </p:nvSpPr>
        <p:spPr>
          <a:xfrm>
            <a:off x="1052421" y="3008520"/>
            <a:ext cx="511560" cy="21924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24"/>
          <p:cNvSpPr/>
          <p:nvPr/>
        </p:nvSpPr>
        <p:spPr>
          <a:xfrm>
            <a:off x="1052421" y="300852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FLAG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25"/>
          <p:cNvSpPr/>
          <p:nvPr/>
        </p:nvSpPr>
        <p:spPr>
          <a:xfrm>
            <a:off x="1655781" y="29350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Future Usage Date Check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26"/>
          <p:cNvSpPr/>
          <p:nvPr/>
        </p:nvSpPr>
        <p:spPr>
          <a:xfrm>
            <a:off x="5890117" y="2935080"/>
            <a:ext cx="2395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D97706"/>
                </a:solidFill>
                <a:latin typeface="Arial"/>
                <a:ea typeface="Arial"/>
              </a:rPr>
              <a:t>150 seeded rows caught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27"/>
          <p:cNvSpPr/>
          <p:nvPr/>
        </p:nvSpPr>
        <p:spPr>
          <a:xfrm>
            <a:off x="1655781" y="3182040"/>
            <a:ext cx="7452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4748B"/>
                </a:solidFill>
                <a:latin typeface="Arial"/>
                <a:ea typeface="Arial"/>
              </a:rPr>
              <a:t>Usage dated beyond Dec 31 2025. Caught 150 seeded rogue-date rows with 2026 dates.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28"/>
          <p:cNvSpPr/>
          <p:nvPr/>
        </p:nvSpPr>
        <p:spPr>
          <a:xfrm>
            <a:off x="960981" y="3511440"/>
            <a:ext cx="7324576" cy="54828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9525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29"/>
          <p:cNvSpPr/>
          <p:nvPr/>
        </p:nvSpPr>
        <p:spPr>
          <a:xfrm>
            <a:off x="1052421" y="3648600"/>
            <a:ext cx="511560" cy="21924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30"/>
          <p:cNvSpPr/>
          <p:nvPr/>
        </p:nvSpPr>
        <p:spPr>
          <a:xfrm>
            <a:off x="1052421" y="364860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FLAG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31"/>
          <p:cNvSpPr/>
          <p:nvPr/>
        </p:nvSpPr>
        <p:spPr>
          <a:xfrm>
            <a:off x="1655781" y="357516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Outside Contract Dates Check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32"/>
          <p:cNvSpPr/>
          <p:nvPr/>
        </p:nvSpPr>
        <p:spPr>
          <a:xfrm>
            <a:off x="5890117" y="3575160"/>
            <a:ext cx="2395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D97706"/>
                </a:solidFill>
                <a:latin typeface="Arial"/>
                <a:ea typeface="Arial"/>
              </a:rPr>
              <a:t>150 seeded rows caught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33"/>
          <p:cNvSpPr/>
          <p:nvPr/>
        </p:nvSpPr>
        <p:spPr>
          <a:xfrm>
            <a:off x="1655781" y="3822120"/>
            <a:ext cx="7452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4748B"/>
                </a:solidFill>
                <a:latin typeface="Arial"/>
                <a:ea typeface="Arial"/>
              </a:rPr>
              <a:t>Usage outside active contract period. Caught the same 150 ghost accounts from a different angle.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34"/>
          <p:cNvSpPr/>
          <p:nvPr/>
        </p:nvSpPr>
        <p:spPr>
          <a:xfrm>
            <a:off x="960981" y="4151520"/>
            <a:ext cx="7324576" cy="54828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35"/>
          <p:cNvSpPr/>
          <p:nvPr/>
        </p:nvSpPr>
        <p:spPr>
          <a:xfrm>
            <a:off x="1052421" y="4288680"/>
            <a:ext cx="511560" cy="21924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36"/>
          <p:cNvSpPr/>
          <p:nvPr/>
        </p:nvSpPr>
        <p:spPr>
          <a:xfrm>
            <a:off x="1052421" y="42886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PASS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37"/>
          <p:cNvSpPr/>
          <p:nvPr/>
        </p:nvSpPr>
        <p:spPr>
          <a:xfrm>
            <a:off x="1655781" y="421524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NULL Account ID Check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38"/>
          <p:cNvSpPr/>
          <p:nvPr/>
        </p:nvSpPr>
        <p:spPr>
          <a:xfrm>
            <a:off x="5890117" y="4215240"/>
            <a:ext cx="2395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16A34A"/>
                </a:solidFill>
                <a:latin typeface="Arial"/>
                <a:ea typeface="Arial"/>
              </a:rPr>
              <a:t>0 rows — clean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39"/>
          <p:cNvSpPr/>
          <p:nvPr/>
        </p:nvSpPr>
        <p:spPr>
          <a:xfrm>
            <a:off x="1655781" y="4462200"/>
            <a:ext cx="7452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4748B"/>
                </a:solidFill>
                <a:latin typeface="Arial"/>
                <a:ea typeface="Arial"/>
              </a:rPr>
              <a:t>NULL account IDs across all five source tables. Every row has a valid account ID.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40"/>
          <p:cNvSpPr/>
          <p:nvPr/>
        </p:nvSpPr>
        <p:spPr>
          <a:xfrm>
            <a:off x="365760" y="4777311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3 PASS  ·  3 FLAGGED (all deliberately seeded)  ·  0 FAIL  ·  450 rows quarantined  ·  SAFE TO RUN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402480" y="20124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402480" y="201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!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2"/>
          <p:cNvSpPr/>
          <p:nvPr/>
        </p:nvSpPr>
        <p:spPr>
          <a:xfrm>
            <a:off x="969120" y="2376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1B3F6B"/>
                </a:solidFill>
                <a:latin typeface="Arial"/>
                <a:ea typeface="Arial"/>
              </a:rPr>
              <a:t>APPENDIX E — C-Level Concerns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3"/>
          <p:cNvSpPr/>
          <p:nvPr/>
        </p:nvSpPr>
        <p:spPr>
          <a:xfrm>
            <a:off x="548640" y="6584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Arial"/>
                <a:ea typeface="Arial"/>
              </a:rPr>
              <a:t>Anticipated questions when overhauling how the sales engine is measured and compensated.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624548" y="1134748"/>
            <a:ext cx="273960" cy="273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5"/>
          <p:cNvSpPr/>
          <p:nvPr/>
        </p:nvSpPr>
        <p:spPr>
          <a:xfrm>
            <a:off x="624548" y="1134748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6"/>
          <p:cNvSpPr/>
          <p:nvPr/>
        </p:nvSpPr>
        <p:spPr>
          <a:xfrm>
            <a:off x="1046756" y="933868"/>
            <a:ext cx="7338118" cy="603000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7"/>
          <p:cNvSpPr/>
          <p:nvPr/>
        </p:nvSpPr>
        <p:spPr>
          <a:xfrm>
            <a:off x="1058831" y="1006948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2563EB"/>
                </a:solidFill>
                <a:latin typeface="Arial"/>
                <a:ea typeface="Arial"/>
              </a:rPr>
              <a:t>What happens to reps who inherit struggling books?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8"/>
          <p:cNvSpPr/>
          <p:nvPr/>
        </p:nvSpPr>
        <p:spPr>
          <a:xfrm>
            <a:off x="4427696" y="1024948"/>
            <a:ext cx="360" cy="420840"/>
          </a:xfrm>
          <a:prstGeom prst="line">
            <a:avLst/>
          </a:prstGeom>
          <a:ln w="9525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9"/>
          <p:cNvSpPr/>
          <p:nvPr/>
        </p:nvSpPr>
        <p:spPr>
          <a:xfrm>
            <a:off x="4537496" y="988588"/>
            <a:ext cx="3976414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AHI delta protection: evaluated on score improvement over first 180 days, not absolute score.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10"/>
          <p:cNvSpPr/>
          <p:nvPr/>
        </p:nvSpPr>
        <p:spPr>
          <a:xfrm>
            <a:off x="624548" y="1811548"/>
            <a:ext cx="273960" cy="273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11"/>
          <p:cNvSpPr/>
          <p:nvPr/>
        </p:nvSpPr>
        <p:spPr>
          <a:xfrm>
            <a:off x="624548" y="1811548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2"/>
          <p:cNvSpPr/>
          <p:nvPr/>
        </p:nvSpPr>
        <p:spPr>
          <a:xfrm>
            <a:off x="1046756" y="1610308"/>
            <a:ext cx="7338118" cy="603000"/>
          </a:xfrm>
          <a:prstGeom prst="roundRect">
            <a:avLst>
              <a:gd name="adj" fmla="val 12121"/>
            </a:avLst>
          </a:prstGeom>
          <a:solidFill>
            <a:srgbClr val="FFFBEB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13"/>
          <p:cNvSpPr/>
          <p:nvPr/>
        </p:nvSpPr>
        <p:spPr>
          <a:xfrm>
            <a:off x="1058831" y="1683388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D97706"/>
                </a:solidFill>
                <a:latin typeface="Arial"/>
                <a:ea typeface="Arial"/>
              </a:rPr>
              <a:t>How do we prevent CSMs from gaming the metric?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4"/>
          <p:cNvSpPr/>
          <p:nvPr/>
        </p:nvSpPr>
        <p:spPr>
          <a:xfrm>
            <a:off x="4427696" y="1701748"/>
            <a:ext cx="360" cy="420480"/>
          </a:xfrm>
          <a:prstGeom prst="line">
            <a:avLst/>
          </a:prstGeom>
          <a:ln w="9525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15"/>
          <p:cNvSpPr/>
          <p:nvPr/>
        </p:nvSpPr>
        <p:spPr>
          <a:xfrm>
            <a:off x="4537496" y="1665388"/>
            <a:ext cx="3976414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Shadow period catches gaming before comp is attached. High Deployment + zero Consumption is automatically cross-flagged.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16"/>
          <p:cNvSpPr/>
          <p:nvPr/>
        </p:nvSpPr>
        <p:spPr>
          <a:xfrm>
            <a:off x="624548" y="2488348"/>
            <a:ext cx="273960" cy="273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17"/>
          <p:cNvSpPr/>
          <p:nvPr/>
        </p:nvSpPr>
        <p:spPr>
          <a:xfrm>
            <a:off x="624548" y="2488348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8"/>
          <p:cNvSpPr/>
          <p:nvPr/>
        </p:nvSpPr>
        <p:spPr>
          <a:xfrm>
            <a:off x="1046756" y="2287108"/>
            <a:ext cx="7338118" cy="603000"/>
          </a:xfrm>
          <a:prstGeom prst="roundRect">
            <a:avLst>
              <a:gd name="adj" fmla="val 12121"/>
            </a:avLst>
          </a:prstGeom>
          <a:solidFill>
            <a:srgbClr val="F0FDF4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19"/>
          <p:cNvSpPr/>
          <p:nvPr/>
        </p:nvSpPr>
        <p:spPr>
          <a:xfrm>
            <a:off x="1058831" y="2360188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What is the HR/legal process for changing comp mid-year?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20"/>
          <p:cNvSpPr/>
          <p:nvPr/>
        </p:nvSpPr>
        <p:spPr>
          <a:xfrm>
            <a:off x="4427696" y="2378188"/>
            <a:ext cx="360" cy="420840"/>
          </a:xfrm>
          <a:prstGeom prst="line">
            <a:avLst/>
          </a:prstGeom>
          <a:ln w="9525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21"/>
          <p:cNvSpPr/>
          <p:nvPr/>
        </p:nvSpPr>
        <p:spPr>
          <a:xfrm>
            <a:off x="4537495" y="2341828"/>
            <a:ext cx="3988489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AHI does not change comp mid-year. Shadow runs first. New plan negotiated before next FY, following standard HR processes.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22"/>
          <p:cNvSpPr/>
          <p:nvPr/>
        </p:nvSpPr>
        <p:spPr>
          <a:xfrm>
            <a:off x="624548" y="3164788"/>
            <a:ext cx="273960" cy="273960"/>
          </a:xfrm>
          <a:prstGeom prst="ellipse">
            <a:avLst/>
          </a:prstGeom>
          <a:solidFill>
            <a:srgbClr val="1B3F6B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23"/>
          <p:cNvSpPr/>
          <p:nvPr/>
        </p:nvSpPr>
        <p:spPr>
          <a:xfrm>
            <a:off x="624548" y="3164788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24"/>
          <p:cNvSpPr/>
          <p:nvPr/>
        </p:nvSpPr>
        <p:spPr>
          <a:xfrm>
            <a:off x="1046756" y="2963548"/>
            <a:ext cx="7338118" cy="603000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127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25"/>
          <p:cNvSpPr/>
          <p:nvPr/>
        </p:nvSpPr>
        <p:spPr>
          <a:xfrm>
            <a:off x="1058831" y="3036988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1B3F6B"/>
                </a:solidFill>
                <a:latin typeface="Arial"/>
                <a:ea typeface="Arial"/>
              </a:rPr>
              <a:t>How do we communicate to the field without panic?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26"/>
          <p:cNvSpPr/>
          <p:nvPr/>
        </p:nvSpPr>
        <p:spPr>
          <a:xfrm>
            <a:off x="4427696" y="3054988"/>
            <a:ext cx="360" cy="420480"/>
          </a:xfrm>
          <a:prstGeom prst="line">
            <a:avLst/>
          </a:prstGeom>
          <a:ln w="9525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27"/>
          <p:cNvSpPr/>
          <p:nvPr/>
        </p:nvSpPr>
        <p:spPr>
          <a:xfrm>
            <a:off x="4537496" y="3018628"/>
            <a:ext cx="3976414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Phased: (1) Shadow as testing a health signal — no comp language. (2) Brief CS leadership at day 90. (3) New plan 60 days before it takes effect.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28"/>
          <p:cNvSpPr/>
          <p:nvPr/>
        </p:nvSpPr>
        <p:spPr>
          <a:xfrm>
            <a:off x="624548" y="3841588"/>
            <a:ext cx="273960" cy="273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29"/>
          <p:cNvSpPr/>
          <p:nvPr/>
        </p:nvSpPr>
        <p:spPr>
          <a:xfrm>
            <a:off x="624548" y="3841588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30"/>
          <p:cNvSpPr/>
          <p:nvPr/>
        </p:nvSpPr>
        <p:spPr>
          <a:xfrm>
            <a:off x="1046756" y="3640348"/>
            <a:ext cx="7338118" cy="603000"/>
          </a:xfrm>
          <a:prstGeom prst="roundRect">
            <a:avLst>
              <a:gd name="adj" fmla="val 12121"/>
            </a:avLst>
          </a:prstGeom>
          <a:solidFill>
            <a:srgbClr val="FFFBEB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31"/>
          <p:cNvSpPr/>
          <p:nvPr/>
        </p:nvSpPr>
        <p:spPr>
          <a:xfrm>
            <a:off x="1058831" y="3713428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D97706"/>
                </a:solidFill>
                <a:latin typeface="Arial"/>
                <a:ea typeface="Arial"/>
              </a:rPr>
              <a:t>What if CS leadership disagrees with the weights?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32"/>
          <p:cNvSpPr/>
          <p:nvPr/>
        </p:nvSpPr>
        <p:spPr>
          <a:xfrm>
            <a:off x="4427696" y="3731788"/>
            <a:ext cx="360" cy="420480"/>
          </a:xfrm>
          <a:prstGeom prst="line">
            <a:avLst/>
          </a:prstGeom>
          <a:ln w="9525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33"/>
          <p:cNvSpPr/>
          <p:nvPr/>
        </p:nvSpPr>
        <p:spPr>
          <a:xfrm>
            <a:off x="4537496" y="3695068"/>
            <a:ext cx="3976414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v1 weights are PM hypotheses. Shadow produces data to settle disagreements empirically — renewal outcomes show which dimensions predicted churn.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34"/>
          <p:cNvSpPr/>
          <p:nvPr/>
        </p:nvSpPr>
        <p:spPr>
          <a:xfrm>
            <a:off x="624548" y="4518028"/>
            <a:ext cx="273960" cy="273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35"/>
          <p:cNvSpPr/>
          <p:nvPr/>
        </p:nvSpPr>
        <p:spPr>
          <a:xfrm>
            <a:off x="624548" y="4518028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36"/>
          <p:cNvSpPr/>
          <p:nvPr/>
        </p:nvSpPr>
        <p:spPr>
          <a:xfrm>
            <a:off x="1046756" y="4317148"/>
            <a:ext cx="7338118" cy="603000"/>
          </a:xfrm>
          <a:prstGeom prst="roundRect">
            <a:avLst>
              <a:gd name="adj" fmla="val 12121"/>
            </a:avLst>
          </a:prstGeom>
          <a:solidFill>
            <a:srgbClr val="F0FDF4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37"/>
          <p:cNvSpPr/>
          <p:nvPr/>
        </p:nvSpPr>
        <p:spPr>
          <a:xfrm>
            <a:off x="1058831" y="4390228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6A34A"/>
                </a:solidFill>
                <a:latin typeface="Arial"/>
                <a:ea typeface="Arial"/>
              </a:rPr>
              <a:t>What does this mean for quota attainment this year?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38"/>
          <p:cNvSpPr/>
          <p:nvPr/>
        </p:nvSpPr>
        <p:spPr>
          <a:xfrm>
            <a:off x="4427696" y="4408228"/>
            <a:ext cx="360" cy="420840"/>
          </a:xfrm>
          <a:prstGeom prst="line">
            <a:avLst/>
          </a:prstGeom>
          <a:ln w="9525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39"/>
          <p:cNvSpPr/>
          <p:nvPr/>
        </p:nvSpPr>
        <p:spPr>
          <a:xfrm>
            <a:off x="4537496" y="4371868"/>
            <a:ext cx="3988488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Nothing changes this year. Shadow is observation only. Quota attainment stays on TCV until the new comp plan is signed.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0"/>
          <p:cNvSpPr/>
          <p:nvPr/>
        </p:nvSpPr>
        <p:spPr>
          <a:xfrm>
            <a:off x="402480" y="20124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1"/>
          <p:cNvSpPr/>
          <p:nvPr/>
        </p:nvSpPr>
        <p:spPr>
          <a:xfrm>
            <a:off x="402480" y="201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Arial"/>
                <a:ea typeface="Arial"/>
              </a:rPr>
              <a:t>↑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2"/>
          <p:cNvSpPr/>
          <p:nvPr/>
        </p:nvSpPr>
        <p:spPr>
          <a:xfrm>
            <a:off x="969120" y="2376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1B3F6B"/>
                </a:solidFill>
                <a:latin typeface="Arial"/>
                <a:ea typeface="Arial"/>
              </a:rPr>
              <a:t>APPENDIX F — Retrospective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3"/>
          <p:cNvSpPr/>
          <p:nvPr/>
        </p:nvSpPr>
        <p:spPr>
          <a:xfrm>
            <a:off x="548640" y="718822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Arial"/>
                <a:ea typeface="Arial"/>
              </a:rPr>
              <a:t>What I would change and what I would keep.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4"/>
          <p:cNvSpPr/>
          <p:nvPr/>
        </p:nvSpPr>
        <p:spPr>
          <a:xfrm>
            <a:off x="365760" y="1011502"/>
            <a:ext cx="3949920" cy="1000664"/>
          </a:xfrm>
          <a:prstGeom prst="roundRect">
            <a:avLst>
              <a:gd name="adj" fmla="val 7353"/>
            </a:avLst>
          </a:prstGeom>
          <a:solidFill>
            <a:srgbClr val="FEE2E2"/>
          </a:solidFill>
          <a:ln w="19050">
            <a:solidFill>
              <a:srgbClr val="DC2626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5"/>
          <p:cNvSpPr/>
          <p:nvPr/>
        </p:nvSpPr>
        <p:spPr>
          <a:xfrm>
            <a:off x="493920" y="1102942"/>
            <a:ext cx="347040" cy="347040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6"/>
          <p:cNvSpPr/>
          <p:nvPr/>
        </p:nvSpPr>
        <p:spPr>
          <a:xfrm>
            <a:off x="493920" y="1102942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Arial"/>
              </a:rPr>
              <a:t>+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7"/>
          <p:cNvSpPr/>
          <p:nvPr/>
        </p:nvSpPr>
        <p:spPr>
          <a:xfrm>
            <a:off x="932760" y="1102942"/>
            <a:ext cx="877320" cy="274320"/>
          </a:xfrm>
          <a:prstGeom prst="roundRect">
            <a:avLst>
              <a:gd name="adj" fmla="val 27273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8"/>
          <p:cNvSpPr/>
          <p:nvPr/>
        </p:nvSpPr>
        <p:spPr>
          <a:xfrm>
            <a:off x="932760" y="1137446"/>
            <a:ext cx="877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Would change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9"/>
          <p:cNvSpPr/>
          <p:nvPr/>
        </p:nvSpPr>
        <p:spPr>
          <a:xfrm>
            <a:off x="1883520" y="1102942"/>
            <a:ext cx="2541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Start LLM narratives on day one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10"/>
          <p:cNvSpPr/>
          <p:nvPr/>
        </p:nvSpPr>
        <p:spPr>
          <a:xfrm>
            <a:off x="493920" y="1317628"/>
            <a:ext cx="382176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· Claude API layer built as v2 — should have been v1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· CSMs respond to plain-English explanation, not just a number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· Action logs from CSMs enable v2 weight calibration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11"/>
          <p:cNvSpPr/>
          <p:nvPr/>
        </p:nvSpPr>
        <p:spPr>
          <a:xfrm>
            <a:off x="365760" y="2364742"/>
            <a:ext cx="3949920" cy="1000664"/>
          </a:xfrm>
          <a:prstGeom prst="roundRect">
            <a:avLst>
              <a:gd name="adj" fmla="val 7353"/>
            </a:avLst>
          </a:prstGeom>
          <a:solidFill>
            <a:srgbClr val="FEE2E2"/>
          </a:solidFill>
          <a:ln w="19050">
            <a:solidFill>
              <a:srgbClr val="DC2626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12"/>
          <p:cNvSpPr/>
          <p:nvPr/>
        </p:nvSpPr>
        <p:spPr>
          <a:xfrm>
            <a:off x="493920" y="2456182"/>
            <a:ext cx="347040" cy="347040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13"/>
          <p:cNvSpPr/>
          <p:nvPr/>
        </p:nvSpPr>
        <p:spPr>
          <a:xfrm>
            <a:off x="493920" y="2456182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Arial"/>
              </a:rPr>
              <a:t>✦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14"/>
          <p:cNvSpPr/>
          <p:nvPr/>
        </p:nvSpPr>
        <p:spPr>
          <a:xfrm>
            <a:off x="932760" y="2456182"/>
            <a:ext cx="877320" cy="274320"/>
          </a:xfrm>
          <a:prstGeom prst="roundRect">
            <a:avLst>
              <a:gd name="adj" fmla="val 27273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15"/>
          <p:cNvSpPr/>
          <p:nvPr/>
        </p:nvSpPr>
        <p:spPr>
          <a:xfrm>
            <a:off x="932760" y="2490686"/>
            <a:ext cx="877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Would change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 16"/>
          <p:cNvSpPr/>
          <p:nvPr/>
        </p:nvSpPr>
        <p:spPr>
          <a:xfrm>
            <a:off x="1883520" y="2456182"/>
            <a:ext cx="2541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F6B"/>
                </a:solidFill>
                <a:latin typeface="Arial"/>
                <a:ea typeface="Arial"/>
              </a:rPr>
              <a:t>Use dbt for the SQL pipeline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17"/>
          <p:cNvSpPr/>
          <p:nvPr/>
        </p:nvSpPr>
        <p:spPr>
          <a:xfrm>
            <a:off x="493920" y="2662602"/>
            <a:ext cx="382176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· Raw </a:t>
            </a:r>
            <a:r>
              <a:rPr lang="en-US" sz="900" b="0" strike="noStrike" spc="-1" dirty="0" err="1">
                <a:solidFill>
                  <a:srgbClr val="1E293B"/>
                </a:solidFill>
                <a:latin typeface="Arial"/>
                <a:ea typeface="Arial"/>
              </a:rPr>
              <a:t>BigQuery</a:t>
            </a: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 SQL used — </a:t>
            </a:r>
            <a:r>
              <a:rPr lang="en-US" sz="900" b="0" strike="noStrike" spc="-1" dirty="0" err="1">
                <a:solidFill>
                  <a:srgbClr val="1E293B"/>
                </a:solidFill>
                <a:latin typeface="Arial"/>
                <a:ea typeface="Arial"/>
              </a:rPr>
              <a:t>dbt</a:t>
            </a: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 preferred for lineage and auditability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· DAG visualization would make pipeline defensible at comp review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· Metric tied to comp requires every output traceable to source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18"/>
          <p:cNvSpPr/>
          <p:nvPr/>
        </p:nvSpPr>
        <p:spPr>
          <a:xfrm>
            <a:off x="365760" y="3717982"/>
            <a:ext cx="3949920" cy="1000664"/>
          </a:xfrm>
          <a:prstGeom prst="roundRect">
            <a:avLst>
              <a:gd name="adj" fmla="val 7353"/>
            </a:avLst>
          </a:prstGeom>
          <a:solidFill>
            <a:srgbClr val="FEE2E2"/>
          </a:solidFill>
          <a:ln w="19050">
            <a:solidFill>
              <a:srgbClr val="DC2626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563" name="Shape 19"/>
          <p:cNvSpPr/>
          <p:nvPr/>
        </p:nvSpPr>
        <p:spPr>
          <a:xfrm>
            <a:off x="493920" y="3809422"/>
            <a:ext cx="347040" cy="347040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20"/>
          <p:cNvSpPr/>
          <p:nvPr/>
        </p:nvSpPr>
        <p:spPr>
          <a:xfrm>
            <a:off x="493920" y="3809422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21"/>
          <p:cNvSpPr/>
          <p:nvPr/>
        </p:nvSpPr>
        <p:spPr>
          <a:xfrm>
            <a:off x="932760" y="3809422"/>
            <a:ext cx="877320" cy="274320"/>
          </a:xfrm>
          <a:prstGeom prst="roundRect">
            <a:avLst>
              <a:gd name="adj" fmla="val 27273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22"/>
          <p:cNvSpPr/>
          <p:nvPr/>
        </p:nvSpPr>
        <p:spPr>
          <a:xfrm>
            <a:off x="932760" y="3843926"/>
            <a:ext cx="877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Would change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23"/>
          <p:cNvSpPr/>
          <p:nvPr/>
        </p:nvSpPr>
        <p:spPr>
          <a:xfrm>
            <a:off x="1883520" y="3809422"/>
            <a:ext cx="2432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 dirty="0">
                <a:solidFill>
                  <a:srgbClr val="1B3F6B"/>
                </a:solidFill>
                <a:latin typeface="Arial"/>
                <a:ea typeface="Arial"/>
              </a:rPr>
              <a:t>Instrument CSM actions from week one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 24"/>
          <p:cNvSpPr/>
          <p:nvPr/>
        </p:nvSpPr>
        <p:spPr>
          <a:xfrm>
            <a:off x="493920" y="4015842"/>
            <a:ext cx="382176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· No action logging (acted/dismissed/escalated) in v1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· Feedback loop cannot close without labeled signal + action + outcome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1E293B"/>
                </a:solidFill>
                <a:latin typeface="Arial"/>
                <a:ea typeface="Arial"/>
              </a:rPr>
              <a:t>· Instrumentation needed before shadow period starts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25"/>
          <p:cNvSpPr/>
          <p:nvPr/>
        </p:nvSpPr>
        <p:spPr>
          <a:xfrm>
            <a:off x="4663440" y="1011502"/>
            <a:ext cx="3949920" cy="1719000"/>
          </a:xfrm>
          <a:prstGeom prst="roundRect">
            <a:avLst>
              <a:gd name="adj" fmla="val 2283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26"/>
          <p:cNvSpPr/>
          <p:nvPr/>
        </p:nvSpPr>
        <p:spPr>
          <a:xfrm>
            <a:off x="4791600" y="1120942"/>
            <a:ext cx="347040" cy="347040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27"/>
          <p:cNvSpPr/>
          <p:nvPr/>
        </p:nvSpPr>
        <p:spPr>
          <a:xfrm>
            <a:off x="4791600" y="1120942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✓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28"/>
          <p:cNvSpPr/>
          <p:nvPr/>
        </p:nvSpPr>
        <p:spPr>
          <a:xfrm>
            <a:off x="5230440" y="1139302"/>
            <a:ext cx="914040" cy="21924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29"/>
          <p:cNvSpPr/>
          <p:nvPr/>
        </p:nvSpPr>
        <p:spPr>
          <a:xfrm>
            <a:off x="5230440" y="1139302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Would keep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30"/>
          <p:cNvSpPr/>
          <p:nvPr/>
        </p:nvSpPr>
        <p:spPr>
          <a:xfrm>
            <a:off x="4791600" y="1541782"/>
            <a:ext cx="3821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F6B"/>
                </a:solidFill>
                <a:latin typeface="Arial"/>
                <a:ea typeface="Arial"/>
              </a:rPr>
              <a:t>Spec-first, AI-assisted development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31"/>
          <p:cNvSpPr/>
          <p:nvPr/>
        </p:nvSpPr>
        <p:spPr>
          <a:xfrm>
            <a:off x="4791240" y="1852462"/>
            <a:ext cx="3657600" cy="360"/>
          </a:xfrm>
          <a:prstGeom prst="line">
            <a:avLst/>
          </a:prstGeom>
          <a:ln w="9525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 32"/>
          <p:cNvSpPr/>
          <p:nvPr/>
        </p:nvSpPr>
        <p:spPr>
          <a:xfrm>
            <a:off x="4791600" y="1925902"/>
            <a:ext cx="3821760" cy="765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· 14-section PRD written before any code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· Claude used as implementation partner throughout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· Every design decision documented and defensible before built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· Produces artifacts that can be reviewed, audited, and defended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0"/>
          <p:cNvSpPr/>
          <p:nvPr/>
        </p:nvSpPr>
        <p:spPr>
          <a:xfrm>
            <a:off x="402480" y="20124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1"/>
          <p:cNvSpPr/>
          <p:nvPr/>
        </p:nvSpPr>
        <p:spPr>
          <a:xfrm>
            <a:off x="402480" y="201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AI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2"/>
          <p:cNvSpPr/>
          <p:nvPr/>
        </p:nvSpPr>
        <p:spPr>
          <a:xfrm>
            <a:off x="969120" y="2376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1B3F6B"/>
                </a:solidFill>
                <a:latin typeface="Arial"/>
                <a:ea typeface="Arial"/>
              </a:rPr>
              <a:t>APPENDIX G — AHI v2: The Agentic AI Layer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3"/>
          <p:cNvSpPr/>
          <p:nvPr/>
        </p:nvSpPr>
        <p:spPr>
          <a:xfrm>
            <a:off x="548640" y="70157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Arial"/>
                <a:ea typeface="Arial"/>
              </a:rPr>
              <a:t>What becomes possible once the shadow period produces labeled training data.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4"/>
          <p:cNvSpPr/>
          <p:nvPr/>
        </p:nvSpPr>
        <p:spPr>
          <a:xfrm>
            <a:off x="731160" y="1148416"/>
            <a:ext cx="7626600" cy="347040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5"/>
          <p:cNvSpPr/>
          <p:nvPr/>
        </p:nvSpPr>
        <p:spPr>
          <a:xfrm>
            <a:off x="402480" y="1166776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!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6"/>
          <p:cNvSpPr/>
          <p:nvPr/>
        </p:nvSpPr>
        <p:spPr>
          <a:xfrm>
            <a:off x="786240" y="1203136"/>
            <a:ext cx="7817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D97706"/>
                </a:solidFill>
                <a:latin typeface="Arial"/>
                <a:ea typeface="Arial"/>
              </a:rPr>
              <a:t>v2 requires: 90 days of CSM action logs (acted / dismissed / escalated) matched to AHI signals and renewal outcomes. The shadow period is what makes v2 possible.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7"/>
          <p:cNvSpPr/>
          <p:nvPr/>
        </p:nvSpPr>
        <p:spPr>
          <a:xfrm>
            <a:off x="320040" y="1838528"/>
            <a:ext cx="2029680" cy="2698601"/>
          </a:xfrm>
          <a:prstGeom prst="roundRect">
            <a:avLst>
              <a:gd name="adj" fmla="val 4505"/>
            </a:avLst>
          </a:prstGeom>
          <a:solidFill>
            <a:srgbClr val="EDE9FE"/>
          </a:solidFill>
          <a:ln w="19050">
            <a:solidFill>
              <a:srgbClr val="7C3AED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8"/>
          <p:cNvSpPr/>
          <p:nvPr/>
        </p:nvSpPr>
        <p:spPr>
          <a:xfrm>
            <a:off x="1064740" y="1966328"/>
            <a:ext cx="548280" cy="548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9"/>
          <p:cNvSpPr/>
          <p:nvPr/>
        </p:nvSpPr>
        <p:spPr>
          <a:xfrm>
            <a:off x="1064740" y="1966328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AI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0"/>
          <p:cNvSpPr/>
          <p:nvPr/>
        </p:nvSpPr>
        <p:spPr>
          <a:xfrm>
            <a:off x="594360" y="2622912"/>
            <a:ext cx="1462680" cy="200880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11"/>
          <p:cNvSpPr/>
          <p:nvPr/>
        </p:nvSpPr>
        <p:spPr>
          <a:xfrm>
            <a:off x="594360" y="2622912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Claude API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12"/>
          <p:cNvSpPr/>
          <p:nvPr/>
        </p:nvSpPr>
        <p:spPr>
          <a:xfrm>
            <a:off x="411480" y="2854849"/>
            <a:ext cx="1846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7C3AED"/>
                </a:solidFill>
                <a:latin typeface="Arial"/>
                <a:ea typeface="Arial"/>
              </a:rPr>
              <a:t>LLM Intervention Briefs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13"/>
          <p:cNvSpPr/>
          <p:nvPr/>
        </p:nvSpPr>
        <p:spPr>
          <a:xfrm>
            <a:off x="502920" y="3330409"/>
            <a:ext cx="1663920" cy="360"/>
          </a:xfrm>
          <a:prstGeom prst="line">
            <a:avLst/>
          </a:prstGeom>
          <a:ln w="635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14"/>
          <p:cNvSpPr/>
          <p:nvPr/>
        </p:nvSpPr>
        <p:spPr>
          <a:xfrm>
            <a:off x="411480" y="3144701"/>
            <a:ext cx="184680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Claude API </a:t>
            </a:r>
            <a:r>
              <a:rPr lang="en-US" sz="900" b="1" strike="noStrike" spc="-1" dirty="0">
                <a:solidFill>
                  <a:srgbClr val="1E293B"/>
                </a:solidFill>
                <a:latin typeface="Arial"/>
                <a:ea typeface="Arial"/>
              </a:rPr>
              <a:t>generates plain-English narrative per account </a:t>
            </a: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when AHI drops: which dimension drove the drop, what the trend shows, what the CSM should do next. Delivered in the dashboard.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5"/>
          <p:cNvSpPr/>
          <p:nvPr/>
        </p:nvSpPr>
        <p:spPr>
          <a:xfrm>
            <a:off x="2349720" y="3199421"/>
            <a:ext cx="164880" cy="36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16"/>
          <p:cNvSpPr/>
          <p:nvPr/>
        </p:nvSpPr>
        <p:spPr>
          <a:xfrm>
            <a:off x="2441520" y="3394489"/>
            <a:ext cx="109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1B3F6B"/>
                </a:solidFill>
                <a:latin typeface="Arial"/>
                <a:ea typeface="Arial"/>
              </a:rPr>
              <a:t>▶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17"/>
          <p:cNvSpPr/>
          <p:nvPr/>
        </p:nvSpPr>
        <p:spPr>
          <a:xfrm>
            <a:off x="2532960" y="1838528"/>
            <a:ext cx="2029680" cy="2698601"/>
          </a:xfrm>
          <a:prstGeom prst="roundRect">
            <a:avLst>
              <a:gd name="adj" fmla="val 4505"/>
            </a:avLst>
          </a:prstGeom>
          <a:solidFill>
            <a:srgbClr val="DBEAFE"/>
          </a:solidFill>
          <a:ln w="19050">
            <a:solidFill>
              <a:srgbClr val="1D4ED8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18"/>
          <p:cNvSpPr/>
          <p:nvPr/>
        </p:nvSpPr>
        <p:spPr>
          <a:xfrm>
            <a:off x="3277660" y="1966328"/>
            <a:ext cx="548280" cy="5482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19"/>
          <p:cNvSpPr/>
          <p:nvPr/>
        </p:nvSpPr>
        <p:spPr>
          <a:xfrm>
            <a:off x="3277660" y="1966328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○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20"/>
          <p:cNvSpPr/>
          <p:nvPr/>
        </p:nvSpPr>
        <p:spPr>
          <a:xfrm>
            <a:off x="2807280" y="2622912"/>
            <a:ext cx="1462680" cy="200880"/>
          </a:xfrm>
          <a:prstGeom prst="roundRect">
            <a:avLst>
              <a:gd name="adj" fmla="val 27273"/>
            </a:avLst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21"/>
          <p:cNvSpPr/>
          <p:nvPr/>
        </p:nvSpPr>
        <p:spPr>
          <a:xfrm>
            <a:off x="2807280" y="2622912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ML Pipeline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22"/>
          <p:cNvSpPr/>
          <p:nvPr/>
        </p:nvSpPr>
        <p:spPr>
          <a:xfrm>
            <a:off x="2624400" y="2854849"/>
            <a:ext cx="1846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D4ED8"/>
                </a:solidFill>
                <a:latin typeface="Arial"/>
                <a:ea typeface="Arial"/>
              </a:rPr>
              <a:t>Statistical Weight Recalibration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3"/>
          <p:cNvSpPr/>
          <p:nvPr/>
        </p:nvSpPr>
        <p:spPr>
          <a:xfrm>
            <a:off x="2715480" y="3330409"/>
            <a:ext cx="1664280" cy="360"/>
          </a:xfrm>
          <a:prstGeom prst="line">
            <a:avLst/>
          </a:prstGeom>
          <a:ln w="635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24"/>
          <p:cNvSpPr/>
          <p:nvPr/>
        </p:nvSpPr>
        <p:spPr>
          <a:xfrm>
            <a:off x="2624400" y="3144701"/>
            <a:ext cx="184680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Logistic regression on labeled data: AHI signal + CSM action + 12-month renewal outcome. Replaces v1 PM hypotheses with weights derived from actual PAN churn behavior.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25"/>
          <p:cNvSpPr/>
          <p:nvPr/>
        </p:nvSpPr>
        <p:spPr>
          <a:xfrm>
            <a:off x="4562640" y="3199421"/>
            <a:ext cx="164520" cy="36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26"/>
          <p:cNvSpPr/>
          <p:nvPr/>
        </p:nvSpPr>
        <p:spPr>
          <a:xfrm>
            <a:off x="4654440" y="3394489"/>
            <a:ext cx="109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1B3F6B"/>
                </a:solidFill>
                <a:latin typeface="Arial"/>
                <a:ea typeface="Arial"/>
              </a:rPr>
              <a:t>▶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7"/>
          <p:cNvSpPr/>
          <p:nvPr/>
        </p:nvSpPr>
        <p:spPr>
          <a:xfrm>
            <a:off x="4745880" y="1838528"/>
            <a:ext cx="2029680" cy="2698601"/>
          </a:xfrm>
          <a:prstGeom prst="roundRect">
            <a:avLst>
              <a:gd name="adj" fmla="val 4505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28"/>
          <p:cNvSpPr/>
          <p:nvPr/>
        </p:nvSpPr>
        <p:spPr>
          <a:xfrm>
            <a:off x="5490220" y="1966328"/>
            <a:ext cx="548280" cy="5482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29"/>
          <p:cNvSpPr/>
          <p:nvPr/>
        </p:nvSpPr>
        <p:spPr>
          <a:xfrm>
            <a:off x="5490220" y="1966328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✓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30"/>
          <p:cNvSpPr/>
          <p:nvPr/>
        </p:nvSpPr>
        <p:spPr>
          <a:xfrm>
            <a:off x="5020200" y="2622912"/>
            <a:ext cx="1462680" cy="200880"/>
          </a:xfrm>
          <a:prstGeom prst="roundRect">
            <a:avLst>
              <a:gd name="adj" fmla="val 27273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31"/>
          <p:cNvSpPr/>
          <p:nvPr/>
        </p:nvSpPr>
        <p:spPr>
          <a:xfrm>
            <a:off x="5020200" y="2622912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Agentic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32"/>
          <p:cNvSpPr/>
          <p:nvPr/>
        </p:nvSpPr>
        <p:spPr>
          <a:xfrm>
            <a:off x="4837320" y="2854849"/>
            <a:ext cx="1846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6A34A"/>
                </a:solidFill>
                <a:latin typeface="Arial"/>
                <a:ea typeface="Arial"/>
              </a:rPr>
              <a:t>Agentic CSM Alerts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33"/>
          <p:cNvSpPr/>
          <p:nvPr/>
        </p:nvSpPr>
        <p:spPr>
          <a:xfrm>
            <a:off x="4928400" y="3330409"/>
            <a:ext cx="1664280" cy="360"/>
          </a:xfrm>
          <a:prstGeom prst="line">
            <a:avLst/>
          </a:prstGeom>
          <a:ln w="63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34"/>
          <p:cNvSpPr/>
          <p:nvPr/>
        </p:nvSpPr>
        <p:spPr>
          <a:xfrm>
            <a:off x="4837320" y="3144701"/>
            <a:ext cx="184680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 dirty="0">
                <a:solidFill>
                  <a:srgbClr val="1E293B"/>
                </a:solidFill>
                <a:latin typeface="Arial"/>
                <a:ea typeface="Arial"/>
              </a:rPr>
              <a:t>Proactive Slack/email alerts when an account crosses a tier. </a:t>
            </a: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Includes: account name, score change, dimension that drove it, recommended action. CSM responds or dismisses in-line.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35"/>
          <p:cNvSpPr/>
          <p:nvPr/>
        </p:nvSpPr>
        <p:spPr>
          <a:xfrm>
            <a:off x="6775560" y="3199421"/>
            <a:ext cx="164520" cy="360"/>
          </a:xfrm>
          <a:prstGeom prst="line">
            <a:avLst/>
          </a:prstGeom>
          <a:ln w="25400">
            <a:solidFill>
              <a:srgbClr val="1B3F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36"/>
          <p:cNvSpPr/>
          <p:nvPr/>
        </p:nvSpPr>
        <p:spPr>
          <a:xfrm>
            <a:off x="6867000" y="3394489"/>
            <a:ext cx="109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1B3F6B"/>
                </a:solidFill>
                <a:latin typeface="Arial"/>
                <a:ea typeface="Arial"/>
              </a:rPr>
              <a:t>▶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37"/>
          <p:cNvSpPr/>
          <p:nvPr/>
        </p:nvSpPr>
        <p:spPr>
          <a:xfrm>
            <a:off x="6958440" y="1838528"/>
            <a:ext cx="2029680" cy="2698601"/>
          </a:xfrm>
          <a:prstGeom prst="roundRect">
            <a:avLst>
              <a:gd name="adj" fmla="val 4505"/>
            </a:avLst>
          </a:prstGeom>
          <a:solidFill>
            <a:srgbClr val="FEF3C7"/>
          </a:solidFill>
          <a:ln w="19050">
            <a:solidFill>
              <a:srgbClr val="D97706"/>
            </a:solidFill>
            <a:round/>
          </a:ln>
          <a:effectLst>
            <a:outerShdw blurRad="101520" dist="25455" dir="27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38"/>
          <p:cNvSpPr/>
          <p:nvPr/>
        </p:nvSpPr>
        <p:spPr>
          <a:xfrm>
            <a:off x="7703140" y="1966328"/>
            <a:ext cx="548280" cy="5482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39"/>
          <p:cNvSpPr/>
          <p:nvPr/>
        </p:nvSpPr>
        <p:spPr>
          <a:xfrm>
            <a:off x="7703140" y="1966328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≡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40"/>
          <p:cNvSpPr/>
          <p:nvPr/>
        </p:nvSpPr>
        <p:spPr>
          <a:xfrm>
            <a:off x="7232760" y="2622912"/>
            <a:ext cx="1462680" cy="200880"/>
          </a:xfrm>
          <a:prstGeom prst="roundRect">
            <a:avLst>
              <a:gd name="adj" fmla="val 27273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41"/>
          <p:cNvSpPr/>
          <p:nvPr/>
        </p:nvSpPr>
        <p:spPr>
          <a:xfrm>
            <a:off x="7232760" y="2622912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Automation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42"/>
          <p:cNvSpPr/>
          <p:nvPr/>
        </p:nvSpPr>
        <p:spPr>
          <a:xfrm>
            <a:off x="7049880" y="2854849"/>
            <a:ext cx="1846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D97706"/>
                </a:solidFill>
                <a:latin typeface="Arial"/>
                <a:ea typeface="Arial"/>
              </a:rPr>
              <a:t>Automated Escalation Routing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43"/>
          <p:cNvSpPr/>
          <p:nvPr/>
        </p:nvSpPr>
        <p:spPr>
          <a:xfrm>
            <a:off x="7141320" y="3330409"/>
            <a:ext cx="1664280" cy="360"/>
          </a:xfrm>
          <a:prstGeom prst="line">
            <a:avLst/>
          </a:prstGeom>
          <a:ln w="63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44"/>
          <p:cNvSpPr/>
          <p:nvPr/>
        </p:nvSpPr>
        <p:spPr>
          <a:xfrm>
            <a:off x="7049880" y="3144701"/>
            <a:ext cx="184680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 dirty="0">
                <a:solidFill>
                  <a:srgbClr val="1E293B"/>
                </a:solidFill>
                <a:latin typeface="Arial"/>
                <a:ea typeface="Arial"/>
              </a:rPr>
              <a:t>Accounts in Churning tier for 2+ consecutive months are auto-flagged to CS leadership</a:t>
            </a:r>
            <a:r>
              <a:rPr lang="en-US" sz="900" b="0" strike="noStrike" spc="-1" dirty="0">
                <a:solidFill>
                  <a:srgbClr val="1E293B"/>
                </a:solidFill>
                <a:latin typeface="Arial"/>
                <a:ea typeface="Arial"/>
              </a:rPr>
              <a:t> with a pre-built account summary. Removes lag between signal and management awareness.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2452</Words>
  <Application>Microsoft Macintosh PowerPoint</Application>
  <PresentationFormat>On-screen Show (16:9)</PresentationFormat>
  <Paragraphs>375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Anumeha Rai</cp:lastModifiedBy>
  <cp:revision>4</cp:revision>
  <dcterms:created xsi:type="dcterms:W3CDTF">2026-06-28T06:02:20Z</dcterms:created>
  <dcterms:modified xsi:type="dcterms:W3CDTF">2026-06-28T07:01:41Z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